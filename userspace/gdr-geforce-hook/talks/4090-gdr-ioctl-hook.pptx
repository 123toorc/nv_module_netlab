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先读标题下的四句。不要把本场讲成「我们发明了 GDR」。
本场顺序：先分清 P2P 与 GDR，再讲 BAR1，再讲只改 flag 为何够，再讲 GDR 为何能直接接上，最后才是 ioctl 补登记。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这一页只立定义。后面所有「为什么 P2P 通了 GDR 还能失败」都回到右边四段。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BAR1、P2P、GDR、dma-buf、登记，五个词本场反复用。不要用「直通」「零拷贝」代替它们。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指中间两列：物理窗都是 BAR1，所以 P2P 的 flag 对 GDR 有效。差在「谁建映射」。
右列点一下即可：Harry 的文章走的是它，不要和 peermem 并成一句。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不要展开 TLP、ATS、IOMMU 页表。三个词够用。
DMA 强调：CPU 不参与数据面。后面 GDR 省的就是这一跳。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可画：左边小窗写 MMIO，右边大窗写 FB。强调 BAR1 不是「第二份内存」，是同一份显存的外部可见入口。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「映射」与「拷贝」一定要分开。听众里很多人把 P2P 想成驱动帮忙 memcpy。
引用：610 一代已经带齐原生 BAR1 P2P，消费卡只是不被选中。aikitoria 做的是选中它。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四步按时间说。第 4 步预告下一页 BAR1 尺寸：topo 报 OK 不等于 NCCL 那种持久映射能放下。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打开 p2p_caps.c 的枚举口播即可，不必投影源码全文。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本场最重要的一页之一。慢慢念注释。
「直接适配」= 不需要再为 GDR 打第二套内核补丁。TPP 类已经依赖同一连通性。
尚未适配的是用户态写不写登记，下一章再讲。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和 Harry 后文呼应：闸在策略。这里先只谈内核申报，用户态 116 留给后文。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对应 aikitoria 575.64.05-p2p 一类工作：force-enable，不是手写一套 BAR1。
本机不要再为「开 GDR」继续改 NVIDIA 内核。这些 flag 已经把连通性放到 PCIE_BAR1。
BAR1 尺寸是窗口几何，不是能力 bit，但同属「让现有实现能用」而不是新协议。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QuixiAI 对 aikitoria 谱系的概括可以口播：surgical force-enables。
若有人问 3090 NVLink：那是另一条连通性，4090 只有 BAR1。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把「topo OK 但大块不行」说清楚，避免听众以为 flag 之外无事。
GDR 的 64K 对齐页同样要落在 BAR1 覆盖范围内。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「已通 / 未通」画一条线。下面进入 GDR：为何内核已适配，应用仍失败。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「窗相同、手续不同」是全场第二句口号级的话，但用陈述句说，不要写成标语。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对着 nv-p2p.h 的注释讲。physical_address 在 BAR1 路径上就是窗口里的地址。
0x57 翻译：不是网卡坏了，是这本书上没有这个 VA。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四条就是「直接适配」的定义。不要说成「P2P 通了 GDR 就一定通」——缺登记仍会 0x57。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这是「只改 flag 不够用在应用 pin 上」的精确说法。flag 对内核适配是够的；对 libcuda 写本不够。
本树 p2p.c 里还有一段 lazy register 注释，讲座以用户态补登记为正道，不把内核 fallback 当主线。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三笔对应 Tesla libcuda 会发、GeForce 不会发的 ioctl。后面 hook 就是补这三笔。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借鉴：不要再为 GDR 打 NVIDIA 内核；116 是软件旗。
不照抄：一字节不是 peermem 方案。我们要 get_pages。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弯路压在页脚两句即可，不必另开颂歌式「弯路」页。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四行是 hook 的全部职责。不要用「骗换看补」这种字。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LD_PRELOAD 不是改文件偏移。对比 Harry 的一字节。
sudo 会丢掉该环境变量。用 isolate 的 run.sh。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对着 gdr_geforce_hook.c 约 540 行。强调事后抄号，不是篡改请求。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普通 cuMemAlloc 走 UVM，REGISTER_VIDMEM 会报 no hMemory。这是换 VMM 的唯一理由。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两扇都是应用层检查，不是 BAR1，也不是登记本本身。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按行对应：家谱 → VMM → 建本 → 写 VA → 写 vidmem → 返回给应用。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两份工作不矛盾，路径不同。不要在现场叠两套用户态手法。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操作只留这一页。强调隔离。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答问索引。几乎所有现场问题都能指回「窗 / 申报 / 登记」三层之一。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有人问 UMMU：明确是下一场。验收只有 pin 不再 -22，以及日志里 REGISTER_VIDMEM status=0x0。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收束用三层，不要用口号。提问先请对方说清问的是窗、申报，还是登记。
Q: 算不算攻击？A: 只对自愿 preload 的测试进程拆 RM_ALLOC。不要全局安装。
Q: 5090 能否用这 so？A: 若目标是 GDRCopy/peermem，手续相同；若目标是 NCCL dma-buf，Harry 的路径对症。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D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1201400" cy="16459"/>
          </a:xfrm>
          <a:prstGeom prst="rect">
            <a:avLst/>
          </a:prstGeom>
          <a:solidFill>
            <a:srgbClr val="8A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15568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300" b="1">
                <a:solidFill>
                  <a:srgbClr val="7A241C"/>
                </a:solidFill>
                <a:latin typeface="宋体"/>
                <a:ea typeface="宋体"/>
                <a:cs typeface="宋体"/>
              </a:rPr>
              <a:t>内部讲义  ·  RTX 4090 D  ·  驱动 575.64.05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1155680" cy="10515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3400" b="1">
                <a:solidFill>
                  <a:srgbClr val="2A241C"/>
                </a:solidFill>
                <a:latin typeface="宋体"/>
                <a:ea typeface="宋体"/>
                <a:cs typeface="宋体"/>
              </a:rPr>
              <a:t>BAR1 P2P 与 GPUDirect RDMA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514600"/>
            <a:ext cx="11155680" cy="502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800" b="0">
                <a:solidFill>
                  <a:srgbClr val="5A5044"/>
                </a:solidFill>
                <a:latin typeface="宋体"/>
                <a:ea typeface="宋体"/>
                <a:cs typeface="宋体"/>
              </a:rPr>
              <a:t>连通性、策略位，以及用户态为何还要补登记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3200400"/>
            <a:ext cx="1920240" cy="16459"/>
          </a:xfrm>
          <a:prstGeom prst="rect">
            <a:avLst/>
          </a:prstGeom>
          <a:solidFill>
            <a:srgbClr val="8A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429000"/>
            <a:ext cx="11155680" cy="21945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本稿把两件常被混为一谈的事分开：GPU 与 GPU 的 P2P，以及网卡对 GPU 显存的 RDMA（GDR）。</a:t>
            </a:r>
          </a:p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前者在本机已由 aikitoria 575.64.05-p2p 打开——改的是申报用的 flag，不是另做一条 DMA。</a:t>
            </a:r>
          </a:p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后者与前者共用 BAR1 窗口与同一道内核连通性检查，故内核侧可以直接适配；</a:t>
            </a:r>
          </a:p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GeForce 的 libcuda 仍不写第三方登记，故 pin 还须用户态补手续。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897880"/>
            <a:ext cx="11155680" cy="502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300" b="0">
                <a:solidFill>
                  <a:srgbClr val="5A5044"/>
                </a:solidFill>
                <a:latin typeface="微软雅黑"/>
                <a:ea typeface="微软雅黑"/>
                <a:cs typeface="微软雅黑"/>
              </a:rPr>
              <a:t>听众：写过 C、用过动态库即可。不要求写过内核。备注栏是提纲，不是讲演稿。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565392"/>
            <a:ext cx="11201400" cy="10972"/>
          </a:xfrm>
          <a:prstGeom prst="rect">
            <a:avLst/>
          </a:prstGeom>
          <a:solidFill>
            <a:srgbClr val="8A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601968"/>
            <a:ext cx="7680960" cy="20116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100" b="0">
                <a:solidFill>
                  <a:srgbClr val="5A5044"/>
                </a:solidFill>
                <a:latin typeface="宋体"/>
                <a:ea typeface="宋体"/>
                <a:cs typeface="宋体"/>
              </a:rPr>
              <a:t>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0" y="6601968"/>
            <a:ext cx="2194560" cy="20116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r">
              <a:lnSpc>
                <a:spcPct val="115000"/>
              </a:lnSpc>
              <a:spcAft>
                <a:spcPts val="100"/>
              </a:spcAft>
            </a:pPr>
            <a:r>
              <a:rPr sz="1100" b="0">
                <a:solidFill>
                  <a:srgbClr val="5A5044"/>
                </a:solidFill>
                <a:latin typeface="微软雅黑"/>
                <a:ea typeface="微软雅黑"/>
                <a:cs typeface="微软雅黑"/>
              </a:rPr>
              <a:t>1  /  33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D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73152" cy="256032"/>
          </a:xfrm>
          <a:prstGeom prst="rect">
            <a:avLst/>
          </a:prstGeom>
          <a:solidFill>
            <a:srgbClr val="7A2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"/>
            <a:ext cx="1078992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200" b="1">
                <a:solidFill>
                  <a:srgbClr val="7A241C"/>
                </a:solidFill>
                <a:latin typeface="宋体"/>
                <a:ea typeface="宋体"/>
                <a:cs typeface="宋体"/>
              </a:rPr>
              <a:t>一　混淆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155680" cy="38404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2200" b="1">
                <a:solidFill>
                  <a:srgbClr val="2A241C"/>
                </a:solidFill>
                <a:latin typeface="宋体"/>
                <a:ea typeface="宋体"/>
                <a:cs typeface="宋体"/>
              </a:rPr>
              <a:t>两件事，不是一个功能的两个名字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32688"/>
            <a:ext cx="1920240" cy="16459"/>
          </a:xfrm>
          <a:prstGeom prst="rect">
            <a:avLst/>
          </a:prstGeom>
          <a:solidFill>
            <a:srgbClr val="8A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565392"/>
            <a:ext cx="11201400" cy="10972"/>
          </a:xfrm>
          <a:prstGeom prst="rect">
            <a:avLst/>
          </a:prstGeom>
          <a:solidFill>
            <a:srgbClr val="8A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601968"/>
            <a:ext cx="7680960" cy="20116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100" b="0">
                <a:solidFill>
                  <a:srgbClr val="5A5044"/>
                </a:solidFill>
                <a:latin typeface="宋体"/>
                <a:ea typeface="宋体"/>
                <a:cs typeface="宋体"/>
              </a:rPr>
              <a:t>一　混淆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601968"/>
            <a:ext cx="2194560" cy="20116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r">
              <a:lnSpc>
                <a:spcPct val="115000"/>
              </a:lnSpc>
              <a:spcAft>
                <a:spcPts val="100"/>
              </a:spcAft>
            </a:pPr>
            <a:r>
              <a:rPr sz="1100" b="0">
                <a:solidFill>
                  <a:srgbClr val="5A5044"/>
                </a:solidFill>
                <a:latin typeface="微软雅黑"/>
                <a:ea typeface="微软雅黑"/>
                <a:cs typeface="微软雅黑"/>
              </a:rPr>
              <a:t>2  /  33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143000"/>
            <a:ext cx="5486400" cy="5074920"/>
          </a:xfrm>
          <a:prstGeom prst="rect">
            <a:avLst/>
          </a:prstGeom>
          <a:solidFill>
            <a:srgbClr val="EAE3D4"/>
          </a:solidFill>
          <a:ln w="11430">
            <a:solidFill>
              <a:srgbClr val="8A6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280160"/>
            <a:ext cx="5120640" cy="329184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00" b="1">
                <a:solidFill>
                  <a:srgbClr val="7A241C"/>
                </a:solidFill>
                <a:latin typeface="宋体"/>
                <a:ea typeface="宋体"/>
                <a:cs typeface="宋体"/>
              </a:rPr>
              <a:t>常被说成一回事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37360"/>
            <a:ext cx="5120640" cy="42062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「消费卡不支持 P2P，所以也不支持 GDR。」</a:t>
            </a:r>
          </a:p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「P2P 已经通了，GDR 就应当立刻通。」</a:t>
            </a:r>
          </a:p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「GDR 要另写一套内核 DMA。」</a:t>
            </a:r>
          </a:p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「改内核能力位，CUDA 就会承认 GDR。」</a:t>
            </a:r>
          </a:p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四句都不准确。前两句把「窗口」和「登记」混在一起；</a:t>
            </a:r>
          </a:p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后两句把「连通性」和「用户态政策」混在一起。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143000"/>
            <a:ext cx="5486400" cy="5074920"/>
          </a:xfrm>
          <a:prstGeom prst="rect">
            <a:avLst/>
          </a:prstGeom>
          <a:solidFill>
            <a:srgbClr val="DFD6C6"/>
          </a:solidFill>
          <a:ln w="11430">
            <a:solidFill>
              <a:srgbClr val="8A6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280160"/>
            <a:ext cx="5120640" cy="329184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00" b="1">
                <a:solidFill>
                  <a:srgbClr val="7A241C"/>
                </a:solidFill>
                <a:latin typeface="宋体"/>
                <a:ea typeface="宋体"/>
                <a:cs typeface="宋体"/>
              </a:rPr>
              <a:t>本稿的分法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737360"/>
            <a:ext cx="5120640" cy="42062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P2P：PCIe 对端（通常是另一块 GPU）经 BAR1 访问本卡显存。</a:t>
            </a:r>
          </a:p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GDR：PCIe 对端换成网卡。内核入口是 nvidia_p2p_get_pages。</a:t>
            </a:r>
          </a:p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二者共用同一扇 BAR1 窗，也共用 p2pGetCaps 那道连通性检查。</a:t>
            </a:r>
          </a:p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差在手续：GPU P2P 由 CUDA/UVM 自己建映射；</a:t>
            </a:r>
          </a:p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GDR 要第三方先在 RM 里登记 VA，GeForce 的 libcuda 不做这一步。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D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73152" cy="256032"/>
          </a:xfrm>
          <a:prstGeom prst="rect">
            <a:avLst/>
          </a:prstGeom>
          <a:solidFill>
            <a:srgbClr val="7A2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"/>
            <a:ext cx="1078992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200" b="1">
                <a:solidFill>
                  <a:srgbClr val="7A241C"/>
                </a:solidFill>
                <a:latin typeface="宋体"/>
                <a:ea typeface="宋体"/>
                <a:cs typeface="宋体"/>
              </a:rPr>
              <a:t>一　混淆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155680" cy="38404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2200" b="1">
                <a:solidFill>
                  <a:srgbClr val="2A241C"/>
                </a:solidFill>
                <a:latin typeface="宋体"/>
                <a:ea typeface="宋体"/>
                <a:cs typeface="宋体"/>
              </a:rPr>
              <a:t>用语。先定名，再谈实现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32688"/>
            <a:ext cx="1920240" cy="16459"/>
          </a:xfrm>
          <a:prstGeom prst="rect">
            <a:avLst/>
          </a:prstGeom>
          <a:solidFill>
            <a:srgbClr val="8A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565392"/>
            <a:ext cx="11201400" cy="10972"/>
          </a:xfrm>
          <a:prstGeom prst="rect">
            <a:avLst/>
          </a:prstGeom>
          <a:solidFill>
            <a:srgbClr val="8A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601968"/>
            <a:ext cx="7680960" cy="20116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100" b="0">
                <a:solidFill>
                  <a:srgbClr val="5A5044"/>
                </a:solidFill>
                <a:latin typeface="宋体"/>
                <a:ea typeface="宋体"/>
                <a:cs typeface="宋体"/>
              </a:rPr>
              <a:t>一　混淆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601968"/>
            <a:ext cx="2194560" cy="20116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r">
              <a:lnSpc>
                <a:spcPct val="115000"/>
              </a:lnSpc>
              <a:spcAft>
                <a:spcPts val="100"/>
              </a:spcAft>
            </a:pPr>
            <a:r>
              <a:rPr sz="1100" b="0">
                <a:solidFill>
                  <a:srgbClr val="5A5044"/>
                </a:solidFill>
                <a:latin typeface="微软雅黑"/>
                <a:ea typeface="微软雅黑"/>
                <a:cs typeface="微软雅黑"/>
              </a:rPr>
              <a:t>3  /  33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115568"/>
            <a:ext cx="11201400" cy="987552"/>
          </a:xfrm>
          <a:prstGeom prst="rect">
            <a:avLst/>
          </a:prstGeom>
          <a:solidFill>
            <a:srgbClr val="EAE3D4"/>
          </a:solidFill>
          <a:ln w="11430">
            <a:solidFill>
              <a:srgbClr val="8A6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115568"/>
            <a:ext cx="1965960" cy="98755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500" b="1">
                <a:solidFill>
                  <a:srgbClr val="7A241C"/>
                </a:solidFill>
                <a:latin typeface="Consolas"/>
                <a:ea typeface="微软雅黑"/>
                <a:cs typeface="Consolas"/>
              </a:rPr>
              <a:t>BAR1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1225295"/>
            <a:ext cx="8732520" cy="786384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GPU 把一段显存窗口映射到 PCIe 配置空间。对端 DMA 打的是这扇窗，不是「再拷一份到主机」。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157984"/>
            <a:ext cx="11201400" cy="987552"/>
          </a:xfrm>
          <a:prstGeom prst="rect">
            <a:avLst/>
          </a:prstGeom>
          <a:solidFill>
            <a:srgbClr val="EAE3D4"/>
          </a:solidFill>
          <a:ln w="11430">
            <a:solidFill>
              <a:srgbClr val="8A6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157984"/>
            <a:ext cx="1965960" cy="98755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500" b="1">
                <a:solidFill>
                  <a:srgbClr val="7A241C"/>
                </a:solidFill>
                <a:latin typeface="Consolas"/>
                <a:ea typeface="微软雅黑"/>
                <a:cs typeface="Consolas"/>
              </a:rPr>
              <a:t>GPU P2P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267712"/>
            <a:ext cx="8732520" cy="786384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对端是另一块 GPU。cudaMemcpyPeer / UVM 在对端页表里填上本卡 BAR1 地址。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200400"/>
            <a:ext cx="11201400" cy="987552"/>
          </a:xfrm>
          <a:prstGeom prst="rect">
            <a:avLst/>
          </a:prstGeom>
          <a:solidFill>
            <a:srgbClr val="EAE3D4"/>
          </a:solidFill>
          <a:ln w="11430">
            <a:solidFill>
              <a:srgbClr val="8A6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200400"/>
            <a:ext cx="1965960" cy="98755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500" b="1">
                <a:solidFill>
                  <a:srgbClr val="7A241C"/>
                </a:solidFill>
                <a:latin typeface="Consolas"/>
                <a:ea typeface="微软雅黑"/>
                <a:cs typeface="Consolas"/>
              </a:rPr>
              <a:t>GDR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310128"/>
            <a:ext cx="8732520" cy="786384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GPUDirect RDMA。对端是网卡。GDRCopy、nvidia-peermem 走 nvidia_p2p_get_pages。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242816"/>
            <a:ext cx="11201400" cy="987552"/>
          </a:xfrm>
          <a:prstGeom prst="rect">
            <a:avLst/>
          </a:prstGeom>
          <a:solidFill>
            <a:srgbClr val="EAE3D4"/>
          </a:solidFill>
          <a:ln w="11430">
            <a:solidFill>
              <a:srgbClr val="8A6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242816"/>
            <a:ext cx="1965960" cy="98755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500" b="1">
                <a:solidFill>
                  <a:srgbClr val="7A241C"/>
                </a:solidFill>
                <a:latin typeface="Consolas"/>
                <a:ea typeface="微软雅黑"/>
                <a:cs typeface="Consolas"/>
              </a:rPr>
              <a:t>dma-buf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4352544"/>
            <a:ext cx="8732520" cy="786384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较新的导出路径。NCCL 常用。Harry 在 5090 上打开的是这一扇，不是旧 peermem。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5285231"/>
            <a:ext cx="11201400" cy="987552"/>
          </a:xfrm>
          <a:prstGeom prst="rect">
            <a:avLst/>
          </a:prstGeom>
          <a:solidFill>
            <a:srgbClr val="EAE3D4"/>
          </a:solidFill>
          <a:ln w="11430">
            <a:solidFill>
              <a:srgbClr val="8A6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5285231"/>
            <a:ext cx="1965960" cy="98755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500" b="1">
                <a:solidFill>
                  <a:srgbClr val="7A241C"/>
                </a:solidFill>
                <a:latin typeface="Consolas"/>
                <a:ea typeface="微软雅黑"/>
                <a:cs typeface="Consolas"/>
              </a:rPr>
              <a:t>登记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5394959"/>
            <a:ext cx="8732520" cy="786384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RM 对象 NV50_THIRD_PARTY_P2P（0x503c）里的 VA 记录。get_pages 按地址查这本书。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D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73152" cy="256032"/>
          </a:xfrm>
          <a:prstGeom prst="rect">
            <a:avLst/>
          </a:prstGeom>
          <a:solidFill>
            <a:srgbClr val="7A2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"/>
            <a:ext cx="1078992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200" b="1">
                <a:solidFill>
                  <a:srgbClr val="7A241C"/>
                </a:solidFill>
                <a:latin typeface="宋体"/>
                <a:ea typeface="宋体"/>
                <a:cs typeface="宋体"/>
              </a:rPr>
              <a:t>一　混淆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155680" cy="38404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2200" b="1">
                <a:solidFill>
                  <a:srgbClr val="2A241C"/>
                </a:solidFill>
                <a:latin typeface="宋体"/>
                <a:ea typeface="宋体"/>
                <a:cs typeface="宋体"/>
              </a:rPr>
              <a:t>同一扇窗，两套手续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32688"/>
            <a:ext cx="1920240" cy="16459"/>
          </a:xfrm>
          <a:prstGeom prst="rect">
            <a:avLst/>
          </a:prstGeom>
          <a:solidFill>
            <a:srgbClr val="8A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565392"/>
            <a:ext cx="11201400" cy="10972"/>
          </a:xfrm>
          <a:prstGeom prst="rect">
            <a:avLst/>
          </a:prstGeom>
          <a:solidFill>
            <a:srgbClr val="8A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601968"/>
            <a:ext cx="7680960" cy="20116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100" b="0">
                <a:solidFill>
                  <a:srgbClr val="5A5044"/>
                </a:solidFill>
                <a:latin typeface="宋体"/>
                <a:ea typeface="宋体"/>
                <a:cs typeface="宋体"/>
              </a:rPr>
              <a:t>一　混淆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601968"/>
            <a:ext cx="2194560" cy="20116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r">
              <a:lnSpc>
                <a:spcPct val="115000"/>
              </a:lnSpc>
              <a:spcAft>
                <a:spcPts val="100"/>
              </a:spcAft>
            </a:pPr>
            <a:r>
              <a:rPr sz="1100" b="0">
                <a:solidFill>
                  <a:srgbClr val="5A5044"/>
                </a:solidFill>
                <a:latin typeface="微软雅黑"/>
                <a:ea typeface="微软雅黑"/>
                <a:cs typeface="微软雅黑"/>
              </a:rPr>
              <a:t>4  /  33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115568"/>
            <a:ext cx="11201400" cy="438912"/>
          </a:xfrm>
          <a:prstGeom prst="rect">
            <a:avLst/>
          </a:prstGeom>
          <a:solidFill>
            <a:srgbClr val="DFD6C6"/>
          </a:solidFill>
          <a:ln w="11430">
            <a:solidFill>
              <a:srgbClr val="8A6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115568"/>
            <a:ext cx="1828800" cy="43891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300" b="1">
                <a:solidFill>
                  <a:srgbClr val="7A241C"/>
                </a:solidFill>
                <a:latin typeface="宋体"/>
                <a:ea typeface="宋体"/>
                <a:cs typeface="宋体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1115568"/>
            <a:ext cx="3017520" cy="43891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lnSpc>
                <a:spcPct val="115000"/>
              </a:lnSpc>
              <a:spcAft>
                <a:spcPts val="100"/>
              </a:spcAft>
            </a:pPr>
            <a:r>
              <a:rPr sz="1300" b="1">
                <a:solidFill>
                  <a:srgbClr val="7A241C"/>
                </a:solidFill>
                <a:latin typeface="宋体"/>
                <a:ea typeface="宋体"/>
                <a:cs typeface="宋体"/>
              </a:rPr>
              <a:t>GPU ↔ GPU P2P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1115568"/>
            <a:ext cx="3017520" cy="43891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lnSpc>
                <a:spcPct val="115000"/>
              </a:lnSpc>
              <a:spcAft>
                <a:spcPts val="100"/>
              </a:spcAft>
            </a:pPr>
            <a:r>
              <a:rPr sz="1300" b="1">
                <a:solidFill>
                  <a:srgbClr val="7A241C"/>
                </a:solidFill>
                <a:latin typeface="宋体"/>
                <a:ea typeface="宋体"/>
                <a:cs typeface="宋体"/>
              </a:rPr>
              <a:t>GDR（peermem）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1115568"/>
            <a:ext cx="3337560" cy="43891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lnSpc>
                <a:spcPct val="115000"/>
              </a:lnSpc>
              <a:spcAft>
                <a:spcPts val="100"/>
              </a:spcAft>
            </a:pPr>
            <a:r>
              <a:rPr sz="1300" b="1">
                <a:solidFill>
                  <a:srgbClr val="7A241C"/>
                </a:solidFill>
                <a:latin typeface="宋体"/>
                <a:ea typeface="宋体"/>
                <a:cs typeface="宋体"/>
              </a:rPr>
              <a:t>dma-buf / NCCL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554480"/>
            <a:ext cx="11201400" cy="868680"/>
          </a:xfrm>
          <a:prstGeom prst="rect">
            <a:avLst/>
          </a:prstGeom>
          <a:solidFill>
            <a:srgbClr val="EAE3D4"/>
          </a:solidFill>
          <a:ln w="7620">
            <a:solidFill>
              <a:srgbClr val="8A6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1554480"/>
            <a:ext cx="1828800" cy="8686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00" b="1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对端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1554480"/>
            <a:ext cx="3017520" cy="8686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lnSpc>
                <a:spcPct val="115000"/>
              </a:lnSpc>
              <a:spcAft>
                <a:spcPts val="100"/>
              </a:spcAft>
            </a:pPr>
            <a:r>
              <a:rPr sz="14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另一块 GPU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1554480"/>
            <a:ext cx="3017520" cy="8686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lnSpc>
                <a:spcPct val="115000"/>
              </a:lnSpc>
              <a:spcAft>
                <a:spcPts val="100"/>
              </a:spcAft>
            </a:pPr>
            <a:r>
              <a:rPr sz="14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网卡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1554480"/>
            <a:ext cx="3337560" cy="8686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lnSpc>
                <a:spcPct val="115000"/>
              </a:lnSpc>
              <a:spcAft>
                <a:spcPts val="100"/>
              </a:spcAft>
            </a:pPr>
            <a:r>
              <a:rPr sz="14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网卡（新路径）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423160"/>
            <a:ext cx="11201400" cy="868680"/>
          </a:xfrm>
          <a:prstGeom prst="rect">
            <a:avLst/>
          </a:prstGeom>
          <a:solidFill>
            <a:srgbClr val="F7F2E8"/>
          </a:solidFill>
          <a:ln w="7620">
            <a:solidFill>
              <a:srgbClr val="8A6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2423160"/>
            <a:ext cx="1828800" cy="8686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00" b="1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物理窗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31720" y="2423160"/>
            <a:ext cx="3017520" cy="8686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lnSpc>
                <a:spcPct val="115000"/>
              </a:lnSpc>
              <a:spcAft>
                <a:spcPts val="100"/>
              </a:spcAft>
            </a:pPr>
            <a:r>
              <a:rPr sz="14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BAR1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49240" y="2423160"/>
            <a:ext cx="3017520" cy="8686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lnSpc>
                <a:spcPct val="115000"/>
              </a:lnSpc>
              <a:spcAft>
                <a:spcPts val="100"/>
              </a:spcAft>
            </a:pPr>
            <a:r>
              <a:rPr sz="14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BAR1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2423160"/>
            <a:ext cx="3337560" cy="8686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lnSpc>
                <a:spcPct val="115000"/>
              </a:lnSpc>
              <a:spcAft>
                <a:spcPts val="100"/>
              </a:spcAft>
            </a:pPr>
            <a:r>
              <a:rPr sz="14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dma-buf 导出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291839"/>
            <a:ext cx="11201400" cy="868680"/>
          </a:xfrm>
          <a:prstGeom prst="rect">
            <a:avLst/>
          </a:prstGeom>
          <a:solidFill>
            <a:srgbClr val="EAE3D4"/>
          </a:solidFill>
          <a:ln w="7620">
            <a:solidFill>
              <a:srgbClr val="8A6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3291839"/>
            <a:ext cx="1828800" cy="8686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00" b="1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内核入口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31720" y="3291839"/>
            <a:ext cx="3017520" cy="8686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lnSpc>
                <a:spcPct val="115000"/>
              </a:lnSpc>
              <a:spcAft>
                <a:spcPts val="100"/>
              </a:spcAft>
            </a:pPr>
            <a:r>
              <a:rPr sz="14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UVM / NV50_P2P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49240" y="3291839"/>
            <a:ext cx="3017520" cy="8686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lnSpc>
                <a:spcPct val="115000"/>
              </a:lnSpc>
              <a:spcAft>
                <a:spcPts val="100"/>
              </a:spcAft>
            </a:pPr>
            <a:r>
              <a:rPr sz="14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nvidia_p2p_get_pages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3291839"/>
            <a:ext cx="3337560" cy="8686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lnSpc>
                <a:spcPct val="115000"/>
              </a:lnSpc>
              <a:spcAft>
                <a:spcPts val="100"/>
              </a:spcAft>
            </a:pPr>
            <a:r>
              <a:rPr sz="14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dma-buf fd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4160520"/>
            <a:ext cx="11201400" cy="868680"/>
          </a:xfrm>
          <a:prstGeom prst="rect">
            <a:avLst/>
          </a:prstGeom>
          <a:solidFill>
            <a:srgbClr val="F7F2E8"/>
          </a:solidFill>
          <a:ln w="7620">
            <a:solidFill>
              <a:srgbClr val="8A6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4160520"/>
            <a:ext cx="1828800" cy="8686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00" b="1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谁建映射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31720" y="4160520"/>
            <a:ext cx="3017520" cy="8686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lnSpc>
                <a:spcPct val="115000"/>
              </a:lnSpc>
              <a:spcAft>
                <a:spcPts val="100"/>
              </a:spcAft>
            </a:pPr>
            <a:r>
              <a:rPr sz="14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CUDA / UVM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49240" y="4160520"/>
            <a:ext cx="3017520" cy="8686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lnSpc>
                <a:spcPct val="115000"/>
              </a:lnSpc>
              <a:spcAft>
                <a:spcPts val="100"/>
              </a:spcAft>
            </a:pPr>
            <a:r>
              <a:rPr sz="14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须先有 0x503c 登记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4160520"/>
            <a:ext cx="3337560" cy="8686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lnSpc>
                <a:spcPct val="115000"/>
              </a:lnSpc>
              <a:spcAft>
                <a:spcPts val="100"/>
              </a:spcAft>
            </a:pPr>
            <a:r>
              <a:rPr sz="14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libcuda 导出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5029200"/>
            <a:ext cx="11201400" cy="868680"/>
          </a:xfrm>
          <a:prstGeom prst="rect">
            <a:avLst/>
          </a:prstGeom>
          <a:solidFill>
            <a:srgbClr val="EAE3D4"/>
          </a:solidFill>
          <a:ln w="7620">
            <a:solidFill>
              <a:srgbClr val="8A6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5029200"/>
            <a:ext cx="1828800" cy="8686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00" b="1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4090 现状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31720" y="5029200"/>
            <a:ext cx="3017520" cy="8686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lnSpc>
                <a:spcPct val="115000"/>
              </a:lnSpc>
              <a:spcAft>
                <a:spcPts val="100"/>
              </a:spcAft>
            </a:pPr>
            <a:r>
              <a:rPr sz="14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flag 打开后可用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49240" y="5029200"/>
            <a:ext cx="3017520" cy="8686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lnSpc>
                <a:spcPct val="115000"/>
              </a:lnSpc>
              <a:spcAft>
                <a:spcPts val="100"/>
              </a:spcAft>
            </a:pPr>
            <a:r>
              <a:rPr sz="14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内核已适配，缺登记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66760" y="5029200"/>
            <a:ext cx="3337560" cy="8686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lnSpc>
                <a:spcPct val="115000"/>
              </a:lnSpc>
              <a:spcAft>
                <a:spcPts val="100"/>
              </a:spcAft>
            </a:pPr>
            <a:r>
              <a:rPr sz="14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本稿不走这条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D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73152" cy="256032"/>
          </a:xfrm>
          <a:prstGeom prst="rect">
            <a:avLst/>
          </a:prstGeom>
          <a:solidFill>
            <a:srgbClr val="7A2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"/>
            <a:ext cx="1078992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200" b="1">
                <a:solidFill>
                  <a:srgbClr val="7A241C"/>
                </a:solidFill>
                <a:latin typeface="宋体"/>
                <a:ea typeface="宋体"/>
                <a:cs typeface="宋体"/>
              </a:rPr>
              <a:t>二　BAR1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155680" cy="38404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2200" b="1">
                <a:solidFill>
                  <a:srgbClr val="2A241C"/>
                </a:solidFill>
                <a:latin typeface="宋体"/>
                <a:ea typeface="宋体"/>
                <a:cs typeface="宋体"/>
              </a:rPr>
              <a:t>PCIe 只需三个概念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32688"/>
            <a:ext cx="1920240" cy="16459"/>
          </a:xfrm>
          <a:prstGeom prst="rect">
            <a:avLst/>
          </a:prstGeom>
          <a:solidFill>
            <a:srgbClr val="8A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565392"/>
            <a:ext cx="11201400" cy="10972"/>
          </a:xfrm>
          <a:prstGeom prst="rect">
            <a:avLst/>
          </a:prstGeom>
          <a:solidFill>
            <a:srgbClr val="8A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601968"/>
            <a:ext cx="7680960" cy="20116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100" b="0">
                <a:solidFill>
                  <a:srgbClr val="5A5044"/>
                </a:solidFill>
                <a:latin typeface="宋体"/>
                <a:ea typeface="宋体"/>
                <a:cs typeface="宋体"/>
              </a:rPr>
              <a:t>二　BAR1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601968"/>
            <a:ext cx="2194560" cy="20116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r">
              <a:lnSpc>
                <a:spcPct val="115000"/>
              </a:lnSpc>
              <a:spcAft>
                <a:spcPts val="100"/>
              </a:spcAft>
            </a:pPr>
            <a:r>
              <a:rPr sz="1100" b="0">
                <a:solidFill>
                  <a:srgbClr val="5A5044"/>
                </a:solidFill>
                <a:latin typeface="微软雅黑"/>
                <a:ea typeface="微软雅黑"/>
                <a:cs typeface="微软雅黑"/>
              </a:rPr>
              <a:t>5  /  33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115568"/>
            <a:ext cx="11201400" cy="1417320"/>
          </a:xfrm>
          <a:prstGeom prst="rect">
            <a:avLst/>
          </a:prstGeom>
          <a:solidFill>
            <a:srgbClr val="EAE3D4"/>
          </a:solidFill>
          <a:ln w="11430">
            <a:solidFill>
              <a:srgbClr val="8A6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261872"/>
            <a:ext cx="10789920" cy="3657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600" b="1">
                <a:solidFill>
                  <a:srgbClr val="7A241C"/>
                </a:solidFill>
                <a:latin typeface="宋体"/>
                <a:ea typeface="宋体"/>
                <a:cs typeface="宋体"/>
              </a:rPr>
              <a:t>功能（Function）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682495"/>
            <a:ext cx="10789920" cy="6858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每个设备在总线上是一个请求者，也可以是一个被访问的目标。GPU 与网卡都是。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651760"/>
            <a:ext cx="11201400" cy="1417320"/>
          </a:xfrm>
          <a:prstGeom prst="rect">
            <a:avLst/>
          </a:prstGeom>
          <a:solidFill>
            <a:srgbClr val="EAE3D4"/>
          </a:solidFill>
          <a:ln w="11430">
            <a:solidFill>
              <a:srgbClr val="8A6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798064"/>
            <a:ext cx="10789920" cy="3657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600" b="1">
                <a:solidFill>
                  <a:srgbClr val="7A241C"/>
                </a:solidFill>
                <a:latin typeface="宋体"/>
                <a:ea typeface="宋体"/>
                <a:cs typeface="宋体"/>
              </a:rPr>
              <a:t>BAR（Base Address Register）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218688"/>
            <a:ext cx="10789920" cy="6858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设备向主机申报的一段可寻址窗口。主机或其他设备把事务打到这段地址，理论上就打到该设备内部。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187952"/>
            <a:ext cx="11201400" cy="1417320"/>
          </a:xfrm>
          <a:prstGeom prst="rect">
            <a:avLst/>
          </a:prstGeom>
          <a:solidFill>
            <a:srgbClr val="EAE3D4"/>
          </a:solidFill>
          <a:ln w="11430">
            <a:solidFill>
              <a:srgbClr val="8A6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334256"/>
            <a:ext cx="10789920" cy="3657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600" b="1">
                <a:solidFill>
                  <a:srgbClr val="7A241C"/>
                </a:solidFill>
                <a:latin typeface="宋体"/>
                <a:ea typeface="宋体"/>
                <a:cs typeface="宋体"/>
              </a:rPr>
              <a:t>DMA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754880"/>
            <a:ext cx="10789920" cy="6858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设备自己当请求者去读/写别人的地址。网卡发报文时，读的是它认为合法的 DMA 地址，不必经过 CPU 拷贝。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806440"/>
            <a:ext cx="11155680" cy="5943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500" b="0">
                <a:solidFill>
                  <a:srgbClr val="5A5044"/>
                </a:solidFill>
                <a:latin typeface="微软雅黑"/>
                <a:ea typeface="微软雅黑"/>
                <a:cs typeface="微软雅黑"/>
              </a:rPr>
              <a:t>因此「P2P 通了」的硬件含义只有一句：对端发出的 PCIe 事务，能够打中本卡申报出来的那扇窗。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D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73152" cy="256032"/>
          </a:xfrm>
          <a:prstGeom prst="rect">
            <a:avLst/>
          </a:prstGeom>
          <a:solidFill>
            <a:srgbClr val="7A2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"/>
            <a:ext cx="1078992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200" b="1">
                <a:solidFill>
                  <a:srgbClr val="7A241C"/>
                </a:solidFill>
                <a:latin typeface="宋体"/>
                <a:ea typeface="宋体"/>
                <a:cs typeface="宋体"/>
              </a:rPr>
              <a:t>二　BAR1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155680" cy="38404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2200" b="1">
                <a:solidFill>
                  <a:srgbClr val="2A241C"/>
                </a:solidFill>
                <a:latin typeface="宋体"/>
                <a:ea typeface="宋体"/>
                <a:cs typeface="宋体"/>
              </a:rPr>
              <a:t>NVIDIA GPU 常见的两扇窗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32688"/>
            <a:ext cx="1920240" cy="16459"/>
          </a:xfrm>
          <a:prstGeom prst="rect">
            <a:avLst/>
          </a:prstGeom>
          <a:solidFill>
            <a:srgbClr val="8A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565392"/>
            <a:ext cx="11201400" cy="10972"/>
          </a:xfrm>
          <a:prstGeom prst="rect">
            <a:avLst/>
          </a:prstGeom>
          <a:solidFill>
            <a:srgbClr val="8A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601968"/>
            <a:ext cx="7680960" cy="20116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100" b="0">
                <a:solidFill>
                  <a:srgbClr val="5A5044"/>
                </a:solidFill>
                <a:latin typeface="宋体"/>
                <a:ea typeface="宋体"/>
                <a:cs typeface="宋体"/>
              </a:rPr>
              <a:t>二　BAR1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601968"/>
            <a:ext cx="2194560" cy="20116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r">
              <a:lnSpc>
                <a:spcPct val="115000"/>
              </a:lnSpc>
              <a:spcAft>
                <a:spcPts val="100"/>
              </a:spcAft>
            </a:pPr>
            <a:r>
              <a:rPr sz="1100" b="0">
                <a:solidFill>
                  <a:srgbClr val="5A5044"/>
                </a:solidFill>
                <a:latin typeface="微软雅黑"/>
                <a:ea typeface="微软雅黑"/>
                <a:cs typeface="微软雅黑"/>
              </a:rPr>
              <a:t>6  /  33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143000"/>
            <a:ext cx="5486400" cy="5074920"/>
          </a:xfrm>
          <a:prstGeom prst="rect">
            <a:avLst/>
          </a:prstGeom>
          <a:solidFill>
            <a:srgbClr val="EAE3D4"/>
          </a:solidFill>
          <a:ln w="11430">
            <a:solidFill>
              <a:srgbClr val="8A6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325880"/>
            <a:ext cx="5029200" cy="3657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800" b="1">
                <a:solidFill>
                  <a:srgbClr val="7A241C"/>
                </a:solidFill>
                <a:latin typeface="宋体"/>
                <a:ea typeface="宋体"/>
                <a:cs typeface="宋体"/>
              </a:rPr>
              <a:t>BAR0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828800"/>
            <a:ext cx="5029200" cy="40233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寄存器与控制面。</a:t>
            </a:r>
          </a:p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驱动用它跟 GPU 说话：门铃、MMIO、配置。</a:t>
            </a:r>
          </a:p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对 GDR / P2P 的数据面不重要。</a:t>
            </a:r>
          </a:p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本稿不再展开。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143000"/>
            <a:ext cx="5486400" cy="5074920"/>
          </a:xfrm>
          <a:prstGeom prst="rect">
            <a:avLst/>
          </a:prstGeom>
          <a:solidFill>
            <a:srgbClr val="DFD6C6"/>
          </a:solidFill>
          <a:ln w="11430">
            <a:solidFill>
              <a:srgbClr val="8A6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325880"/>
            <a:ext cx="5029200" cy="3657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800" b="1">
                <a:solidFill>
                  <a:srgbClr val="7A241C"/>
                </a:solidFill>
                <a:latin typeface="宋体"/>
                <a:ea typeface="宋体"/>
                <a:cs typeface="宋体"/>
              </a:rPr>
              <a:t>BAR1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828800"/>
            <a:ext cx="5029200" cy="40233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Framebuffer 的窗口。</a:t>
            </a:r>
          </a:p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一段 PCIe 地址，背后是 GPU 显存的一部分或全部。</a:t>
            </a:r>
          </a:p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官方默认往往只有数百 MB。</a:t>
            </a:r>
          </a:p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本机扩到 32 GB，使窗口能盖住工作集。</a:t>
            </a:r>
          </a:p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GPU P2P 与 GDR 的数据都走这扇窗。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D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73152" cy="256032"/>
          </a:xfrm>
          <a:prstGeom prst="rect">
            <a:avLst/>
          </a:prstGeom>
          <a:solidFill>
            <a:srgbClr val="7A2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"/>
            <a:ext cx="1078992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200" b="1">
                <a:solidFill>
                  <a:srgbClr val="7A241C"/>
                </a:solidFill>
                <a:latin typeface="宋体"/>
                <a:ea typeface="宋体"/>
                <a:cs typeface="宋体"/>
              </a:rPr>
              <a:t>二　BAR1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155680" cy="38404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2200" b="1">
                <a:solidFill>
                  <a:srgbClr val="2A241C"/>
                </a:solidFill>
                <a:latin typeface="宋体"/>
                <a:ea typeface="宋体"/>
                <a:cs typeface="宋体"/>
              </a:rPr>
              <a:t>窗口与拷贝不是一回事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32688"/>
            <a:ext cx="1920240" cy="16459"/>
          </a:xfrm>
          <a:prstGeom prst="rect">
            <a:avLst/>
          </a:prstGeom>
          <a:solidFill>
            <a:srgbClr val="8A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565392"/>
            <a:ext cx="11201400" cy="10972"/>
          </a:xfrm>
          <a:prstGeom prst="rect">
            <a:avLst/>
          </a:prstGeom>
          <a:solidFill>
            <a:srgbClr val="8A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601968"/>
            <a:ext cx="7680960" cy="20116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100" b="0">
                <a:solidFill>
                  <a:srgbClr val="5A5044"/>
                </a:solidFill>
                <a:latin typeface="宋体"/>
                <a:ea typeface="宋体"/>
                <a:cs typeface="宋体"/>
              </a:rPr>
              <a:t>二　BAR1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601968"/>
            <a:ext cx="2194560" cy="20116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r">
              <a:lnSpc>
                <a:spcPct val="115000"/>
              </a:lnSpc>
              <a:spcAft>
                <a:spcPts val="100"/>
              </a:spcAft>
            </a:pPr>
            <a:r>
              <a:rPr sz="1100" b="0">
                <a:solidFill>
                  <a:srgbClr val="5A5044"/>
                </a:solidFill>
                <a:latin typeface="微软雅黑"/>
                <a:ea typeface="微软雅黑"/>
                <a:cs typeface="微软雅黑"/>
              </a:rPr>
              <a:t>7  /  33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188720"/>
            <a:ext cx="3291840" cy="1965960"/>
          </a:xfrm>
          <a:prstGeom prst="rect">
            <a:avLst/>
          </a:prstGeom>
          <a:solidFill>
            <a:srgbClr val="EAE3D4"/>
          </a:solidFill>
          <a:ln w="11430">
            <a:solidFill>
              <a:srgbClr val="8A6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188720"/>
            <a:ext cx="3291840" cy="196596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lnSpc>
                <a:spcPct val="115000"/>
              </a:lnSpc>
              <a:spcAft>
                <a:spcPts val="100"/>
              </a:spcAft>
            </a:pPr>
            <a:r>
              <a:rPr sz="1600" b="1">
                <a:solidFill>
                  <a:srgbClr val="2A241C"/>
                </a:solidFill>
                <a:latin typeface="宋体"/>
                <a:ea typeface="宋体"/>
                <a:cs typeface="宋体"/>
              </a:rPr>
              <a:t>GPU 显存</a:t>
            </a:r>
          </a:p>
          <a:p>
            <a:pPr algn="ctr">
              <a:lnSpc>
                <a:spcPct val="115000"/>
              </a:lnSpc>
              <a:spcAft>
                <a:spcPts val="100"/>
              </a:spcAft>
            </a:pPr>
            <a:r>
              <a:rPr sz="1600" b="1">
                <a:solidFill>
                  <a:srgbClr val="2A241C"/>
                </a:solidFill>
                <a:latin typeface="宋体"/>
                <a:ea typeface="宋体"/>
                <a:cs typeface="宋体"/>
              </a:rPr>
              <a:t>（物理 FB）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188720"/>
            <a:ext cx="3291840" cy="1965960"/>
          </a:xfrm>
          <a:prstGeom prst="rect">
            <a:avLst/>
          </a:prstGeom>
          <a:solidFill>
            <a:srgbClr val="DFD6C6"/>
          </a:solidFill>
          <a:ln w="11430">
            <a:solidFill>
              <a:srgbClr val="8A6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188720"/>
            <a:ext cx="3291840" cy="196596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lnSpc>
                <a:spcPct val="115000"/>
              </a:lnSpc>
              <a:spcAft>
                <a:spcPts val="100"/>
              </a:spcAft>
            </a:pPr>
            <a:r>
              <a:rPr sz="1600" b="1">
                <a:solidFill>
                  <a:srgbClr val="2A241C"/>
                </a:solidFill>
                <a:latin typeface="宋体"/>
                <a:ea typeface="宋体"/>
                <a:cs typeface="宋体"/>
              </a:rPr>
              <a:t>BAR1 窗口</a:t>
            </a:r>
          </a:p>
          <a:p>
            <a:pPr algn="ctr">
              <a:lnSpc>
                <a:spcPct val="115000"/>
              </a:lnSpc>
              <a:spcAft>
                <a:spcPts val="100"/>
              </a:spcAft>
            </a:pPr>
            <a:r>
              <a:rPr sz="1600" b="1">
                <a:solidFill>
                  <a:srgbClr val="2A241C"/>
                </a:solidFill>
                <a:latin typeface="宋体"/>
                <a:ea typeface="宋体"/>
                <a:cs typeface="宋体"/>
              </a:rPr>
              <a:t>（PCIe 上可见）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95360" y="1188720"/>
            <a:ext cx="3108960" cy="1965960"/>
          </a:xfrm>
          <a:prstGeom prst="rect">
            <a:avLst/>
          </a:prstGeom>
          <a:solidFill>
            <a:srgbClr val="EAE3D4"/>
          </a:solidFill>
          <a:ln w="11430">
            <a:solidFill>
              <a:srgbClr val="8A6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0" y="1188720"/>
            <a:ext cx="3108960" cy="196596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lnSpc>
                <a:spcPct val="115000"/>
              </a:lnSpc>
              <a:spcAft>
                <a:spcPts val="100"/>
              </a:spcAft>
            </a:pPr>
            <a:r>
              <a:rPr sz="1600" b="1">
                <a:solidFill>
                  <a:srgbClr val="2A241C"/>
                </a:solidFill>
                <a:latin typeface="宋体"/>
                <a:ea typeface="宋体"/>
                <a:cs typeface="宋体"/>
              </a:rPr>
              <a:t>对端</a:t>
            </a:r>
          </a:p>
          <a:p>
            <a:pPr algn="ctr">
              <a:lnSpc>
                <a:spcPct val="115000"/>
              </a:lnSpc>
              <a:spcAft>
                <a:spcPts val="100"/>
              </a:spcAft>
            </a:pPr>
            <a:r>
              <a:rPr sz="1600" b="1">
                <a:solidFill>
                  <a:srgbClr val="2A241C"/>
                </a:solidFill>
                <a:latin typeface="宋体"/>
                <a:ea typeface="宋体"/>
                <a:cs typeface="宋体"/>
              </a:rPr>
              <a:t>GPU 或 NIC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1828800"/>
            <a:ext cx="777240" cy="457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>
              <a:lnSpc>
                <a:spcPct val="115000"/>
              </a:lnSpc>
              <a:spcAft>
                <a:spcPts val="100"/>
              </a:spcAft>
            </a:pPr>
            <a:r>
              <a:rPr sz="1300" b="0">
                <a:solidFill>
                  <a:srgbClr val="5A5044"/>
                </a:solidFill>
                <a:latin typeface="宋体"/>
                <a:ea typeface="宋体"/>
                <a:cs typeface="宋体"/>
              </a:rPr>
              <a:t>映射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1828800"/>
            <a:ext cx="731520" cy="457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>
              <a:lnSpc>
                <a:spcPct val="115000"/>
              </a:lnSpc>
              <a:spcAft>
                <a:spcPts val="100"/>
              </a:spcAft>
            </a:pPr>
            <a:r>
              <a:rPr sz="1300" b="0">
                <a:solidFill>
                  <a:srgbClr val="5A5044"/>
                </a:solidFill>
                <a:latin typeface="宋体"/>
                <a:ea typeface="宋体"/>
                <a:cs typeface="宋体"/>
              </a:rPr>
              <a:t>DMA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383280"/>
            <a:ext cx="11201400" cy="28346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对端并不先把数据拷到主机内存。它把事务发到 BAR1 这一段 PCIe 地址，</a:t>
            </a:r>
          </a:p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GPU 的内存子系统把这段地址翻译回 FB 页。</a:t>
            </a:r>
          </a:p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所以：打开 P2P，本质是允许并完成这套「申报窗口 + 对端映射」。</a:t>
            </a:r>
          </a:p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不是在内核里新写一个拷贝引擎。驱动里 BAR1 P2P 的实现（页表、SYS_NONCOH 孔径、</a:t>
            </a:r>
          </a:p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UVM 的 PCIE_BAR1 连接类型）本来就在；GeForce 默认不选用它。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D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73152" cy="256032"/>
          </a:xfrm>
          <a:prstGeom prst="rect">
            <a:avLst/>
          </a:prstGeom>
          <a:solidFill>
            <a:srgbClr val="7A2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"/>
            <a:ext cx="1078992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200" b="1">
                <a:solidFill>
                  <a:srgbClr val="7A241C"/>
                </a:solidFill>
                <a:latin typeface="宋体"/>
                <a:ea typeface="宋体"/>
                <a:cs typeface="宋体"/>
              </a:rPr>
              <a:t>三　GPU P2P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155680" cy="38404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2200" b="1">
                <a:solidFill>
                  <a:srgbClr val="2A241C"/>
                </a:solidFill>
                <a:latin typeface="宋体"/>
                <a:ea typeface="宋体"/>
                <a:cs typeface="宋体"/>
              </a:rPr>
              <a:t>GPU 对 GPU：对端页表填上本卡 BAR1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32688"/>
            <a:ext cx="1920240" cy="16459"/>
          </a:xfrm>
          <a:prstGeom prst="rect">
            <a:avLst/>
          </a:prstGeom>
          <a:solidFill>
            <a:srgbClr val="8A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565392"/>
            <a:ext cx="11201400" cy="10972"/>
          </a:xfrm>
          <a:prstGeom prst="rect">
            <a:avLst/>
          </a:prstGeom>
          <a:solidFill>
            <a:srgbClr val="8A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601968"/>
            <a:ext cx="7680960" cy="20116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100" b="0">
                <a:solidFill>
                  <a:srgbClr val="5A5044"/>
                </a:solidFill>
                <a:latin typeface="宋体"/>
                <a:ea typeface="宋体"/>
                <a:cs typeface="宋体"/>
              </a:rPr>
              <a:t>三　GPU P2P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601968"/>
            <a:ext cx="2194560" cy="20116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r">
              <a:lnSpc>
                <a:spcPct val="115000"/>
              </a:lnSpc>
              <a:spcAft>
                <a:spcPts val="100"/>
              </a:spcAft>
            </a:pPr>
            <a:r>
              <a:rPr sz="1100" b="0">
                <a:solidFill>
                  <a:srgbClr val="5A5044"/>
                </a:solidFill>
                <a:latin typeface="微软雅黑"/>
                <a:ea typeface="微软雅黑"/>
                <a:cs typeface="微软雅黑"/>
              </a:rPr>
              <a:t>8  /  33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115568"/>
            <a:ext cx="11201400" cy="1170432"/>
          </a:xfrm>
          <a:prstGeom prst="rect">
            <a:avLst/>
          </a:prstGeom>
          <a:solidFill>
            <a:srgbClr val="EAE3D4"/>
          </a:solidFill>
          <a:ln w="11430">
            <a:solidFill>
              <a:srgbClr val="8A6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115568"/>
            <a:ext cx="502920" cy="117043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2000" b="1">
                <a:solidFill>
                  <a:srgbClr val="7A241C"/>
                </a:solidFill>
                <a:latin typeface="宋体"/>
                <a:ea typeface="宋体"/>
                <a:cs typeface="宋体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1243584"/>
            <a:ext cx="2377440" cy="9144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600" b="1">
                <a:solidFill>
                  <a:srgbClr val="2A241C"/>
                </a:solidFill>
                <a:latin typeface="宋体"/>
                <a:ea typeface="宋体"/>
                <a:cs typeface="宋体"/>
              </a:rPr>
              <a:t>能力查询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1280160"/>
            <a:ext cx="7680960" cy="8686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cudaDeviceCanAccessPeer / nvidia-smi topo -p2p。问的是 p2pGetCaps 的结果。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359152"/>
            <a:ext cx="11201400" cy="1170432"/>
          </a:xfrm>
          <a:prstGeom prst="rect">
            <a:avLst/>
          </a:prstGeom>
          <a:solidFill>
            <a:srgbClr val="EAE3D4"/>
          </a:solidFill>
          <a:ln w="11430">
            <a:solidFill>
              <a:srgbClr val="8A6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359152"/>
            <a:ext cx="502920" cy="117043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2000" b="1">
                <a:solidFill>
                  <a:srgbClr val="7A241C"/>
                </a:solidFill>
                <a:latin typeface="宋体"/>
                <a:ea typeface="宋体"/>
                <a:cs typeface="宋体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2487168"/>
            <a:ext cx="2377440" cy="9144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600" b="1">
                <a:solidFill>
                  <a:srgbClr val="2A241C"/>
                </a:solidFill>
                <a:latin typeface="宋体"/>
                <a:ea typeface="宋体"/>
                <a:cs typeface="宋体"/>
              </a:rPr>
              <a:t>建立 peer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2523744"/>
            <a:ext cx="7680960" cy="8686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cudaDeviceEnablePeerAccess。UVM 在本卡与对端之间建一条 PCIE_BAR1 连接。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602736"/>
            <a:ext cx="11201400" cy="1170432"/>
          </a:xfrm>
          <a:prstGeom prst="rect">
            <a:avLst/>
          </a:prstGeom>
          <a:solidFill>
            <a:srgbClr val="EAE3D4"/>
          </a:solidFill>
          <a:ln w="11430">
            <a:solidFill>
              <a:srgbClr val="8A6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602736"/>
            <a:ext cx="502920" cy="117043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2000" b="1">
                <a:solidFill>
                  <a:srgbClr val="7A241C"/>
                </a:solidFill>
                <a:latin typeface="宋体"/>
                <a:ea typeface="宋体"/>
                <a:cs typeface="宋体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730752"/>
            <a:ext cx="2377440" cy="9144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600" b="1">
                <a:solidFill>
                  <a:srgbClr val="2A241C"/>
                </a:solidFill>
                <a:latin typeface="宋体"/>
                <a:ea typeface="宋体"/>
                <a:cs typeface="宋体"/>
              </a:rPr>
              <a:t>映射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3767328"/>
            <a:ext cx="7680960" cy="8686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对端 GPU 的 MMU 里，出现指向本卡 BAR1 的 PTE。之后 memcpyPeer 是设备自己的 DMA。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846320"/>
            <a:ext cx="11201400" cy="1170432"/>
          </a:xfrm>
          <a:prstGeom prst="rect">
            <a:avLst/>
          </a:prstGeom>
          <a:solidFill>
            <a:srgbClr val="EAE3D4"/>
          </a:solidFill>
          <a:ln w="11430">
            <a:solidFill>
              <a:srgbClr val="8A6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846320"/>
            <a:ext cx="502920" cy="117043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2000" b="1">
                <a:solidFill>
                  <a:srgbClr val="7A241C"/>
                </a:solidFill>
                <a:latin typeface="宋体"/>
                <a:ea typeface="宋体"/>
                <a:cs typeface="宋体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4974336"/>
            <a:ext cx="2377440" cy="9144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600" b="1">
                <a:solidFill>
                  <a:srgbClr val="2A241C"/>
                </a:solidFill>
                <a:latin typeface="宋体"/>
                <a:ea typeface="宋体"/>
                <a:cs typeface="宋体"/>
              </a:rPr>
              <a:t>数据面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5010912"/>
            <a:ext cx="7680960" cy="8686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不经主机 bounce。窗口不够大时，小块临时映射仍可能成功，大块持久映射会失败。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D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73152" cy="256032"/>
          </a:xfrm>
          <a:prstGeom prst="rect">
            <a:avLst/>
          </a:prstGeom>
          <a:solidFill>
            <a:srgbClr val="7A2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"/>
            <a:ext cx="1078992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200" b="1">
                <a:solidFill>
                  <a:srgbClr val="7A241C"/>
                </a:solidFill>
                <a:latin typeface="宋体"/>
                <a:ea typeface="宋体"/>
                <a:cs typeface="宋体"/>
              </a:rPr>
              <a:t>三　GPU P2P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155680" cy="38404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2200" b="1">
                <a:solidFill>
                  <a:srgbClr val="2A241C"/>
                </a:solidFill>
                <a:latin typeface="宋体"/>
                <a:ea typeface="宋体"/>
                <a:cs typeface="宋体"/>
              </a:rPr>
              <a:t>内核如何描述「通了」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32688"/>
            <a:ext cx="1920240" cy="16459"/>
          </a:xfrm>
          <a:prstGeom prst="rect">
            <a:avLst/>
          </a:prstGeom>
          <a:solidFill>
            <a:srgbClr val="8A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565392"/>
            <a:ext cx="11201400" cy="10972"/>
          </a:xfrm>
          <a:prstGeom prst="rect">
            <a:avLst/>
          </a:prstGeom>
          <a:solidFill>
            <a:srgbClr val="8A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601968"/>
            <a:ext cx="7680960" cy="20116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100" b="0">
                <a:solidFill>
                  <a:srgbClr val="5A5044"/>
                </a:solidFill>
                <a:latin typeface="宋体"/>
                <a:ea typeface="宋体"/>
                <a:cs typeface="宋体"/>
              </a:rPr>
              <a:t>三　GPU P2P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601968"/>
            <a:ext cx="2194560" cy="20116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r">
              <a:lnSpc>
                <a:spcPct val="115000"/>
              </a:lnSpc>
              <a:spcAft>
                <a:spcPts val="100"/>
              </a:spcAft>
            </a:pPr>
            <a:r>
              <a:rPr sz="1100" b="0">
                <a:solidFill>
                  <a:srgbClr val="5A5044"/>
                </a:solidFill>
                <a:latin typeface="微软雅黑"/>
                <a:ea typeface="微软雅黑"/>
                <a:cs typeface="微软雅黑"/>
              </a:rPr>
              <a:t>9  /  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078992"/>
            <a:ext cx="11155680" cy="502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00" b="0">
                <a:solidFill>
                  <a:srgbClr val="5A5044"/>
                </a:solidFill>
                <a:latin typeface="微软雅黑"/>
                <a:ea typeface="微软雅黑"/>
                <a:cs typeface="微软雅黑"/>
              </a:rPr>
              <a:t>p2p_caps.h 里的连通性不是营销词，是 RM 的枚举。4090 走最后一项。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645920"/>
            <a:ext cx="11201400" cy="1051560"/>
          </a:xfrm>
          <a:prstGeom prst="rect">
            <a:avLst/>
          </a:prstGeom>
          <a:solidFill>
            <a:srgbClr val="EAE3D4"/>
          </a:solidFill>
          <a:ln w="11430">
            <a:solidFill>
              <a:srgbClr val="8A6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645920"/>
            <a:ext cx="3291840" cy="105156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600" b="1">
                <a:solidFill>
                  <a:srgbClr val="7A241C"/>
                </a:solidFill>
                <a:latin typeface="Consolas"/>
                <a:ea typeface="微软雅黑"/>
                <a:cs typeface="Consolas"/>
              </a:rPr>
              <a:t>NVLINK / C2C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1645920"/>
            <a:ext cx="7360920" cy="105156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数据中心卡或特殊封装。4090 无 NVLink，不走这里。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788920"/>
            <a:ext cx="11201400" cy="1051560"/>
          </a:xfrm>
          <a:prstGeom prst="rect">
            <a:avLst/>
          </a:prstGeom>
          <a:solidFill>
            <a:srgbClr val="EAE3D4"/>
          </a:solidFill>
          <a:ln w="11430">
            <a:solidFill>
              <a:srgbClr val="8A6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788920"/>
            <a:ext cx="3291840" cy="105156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600" b="1">
                <a:solidFill>
                  <a:srgbClr val="7A241C"/>
                </a:solidFill>
                <a:latin typeface="Consolas"/>
                <a:ea typeface="微软雅黑"/>
                <a:cs typeface="Consolas"/>
              </a:rPr>
              <a:t>PCIE_PROPRIETARY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2788920"/>
            <a:ext cx="7360920" cy="105156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较旧的 PCIe P2P 邮箱路径。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931920"/>
            <a:ext cx="11201400" cy="1051560"/>
          </a:xfrm>
          <a:prstGeom prst="rect">
            <a:avLst/>
          </a:prstGeom>
          <a:solidFill>
            <a:srgbClr val="EAE3D4"/>
          </a:solidFill>
          <a:ln w="11430">
            <a:solidFill>
              <a:srgbClr val="8A6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931920"/>
            <a:ext cx="3291840" cy="105156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600" b="1">
                <a:solidFill>
                  <a:srgbClr val="7A241C"/>
                </a:solidFill>
                <a:latin typeface="Consolas"/>
                <a:ea typeface="微软雅黑"/>
                <a:cs typeface="Consolas"/>
              </a:rPr>
              <a:t>PCIE_BAR1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3931920"/>
            <a:ext cx="7360920" cy="105156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经 BAR1 窗做 peer 映射。本机 GPU↔GPU 通的就是这一项。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212080"/>
            <a:ext cx="11155680" cy="10972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forceP2PType、pcieP2PType 决定走哪条分支。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aikitoria 把 PCIe P2P 类型落到 BAR1，并把读写能力位置上。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D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73152" cy="256032"/>
          </a:xfrm>
          <a:prstGeom prst="rect">
            <a:avLst/>
          </a:prstGeom>
          <a:solidFill>
            <a:srgbClr val="7A2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"/>
            <a:ext cx="1078992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200" b="1">
                <a:solidFill>
                  <a:srgbClr val="7A241C"/>
                </a:solidFill>
                <a:latin typeface="宋体"/>
                <a:ea typeface="宋体"/>
                <a:cs typeface="宋体"/>
              </a:rPr>
              <a:t>三　GPU P2P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155680" cy="38404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2200" b="1">
                <a:solidFill>
                  <a:srgbClr val="2A241C"/>
                </a:solidFill>
                <a:latin typeface="宋体"/>
                <a:ea typeface="宋体"/>
                <a:cs typeface="宋体"/>
              </a:rPr>
              <a:t>两类对象，过同一道检查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32688"/>
            <a:ext cx="1920240" cy="16459"/>
          </a:xfrm>
          <a:prstGeom prst="rect">
            <a:avLst/>
          </a:prstGeom>
          <a:solidFill>
            <a:srgbClr val="8A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565392"/>
            <a:ext cx="11201400" cy="10972"/>
          </a:xfrm>
          <a:prstGeom prst="rect">
            <a:avLst/>
          </a:prstGeom>
          <a:solidFill>
            <a:srgbClr val="8A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601968"/>
            <a:ext cx="7680960" cy="20116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100" b="0">
                <a:solidFill>
                  <a:srgbClr val="5A5044"/>
                </a:solidFill>
                <a:latin typeface="宋体"/>
                <a:ea typeface="宋体"/>
                <a:cs typeface="宋体"/>
              </a:rPr>
              <a:t>三　GPU P2P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601968"/>
            <a:ext cx="2194560" cy="20116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r">
              <a:lnSpc>
                <a:spcPct val="115000"/>
              </a:lnSpc>
              <a:spcAft>
                <a:spcPts val="100"/>
              </a:spcAft>
            </a:pPr>
            <a:r>
              <a:rPr sz="1100" b="0">
                <a:solidFill>
                  <a:srgbClr val="5A5044"/>
                </a:solidFill>
                <a:latin typeface="微软雅黑"/>
                <a:ea typeface="微软雅黑"/>
                <a:cs typeface="微软雅黑"/>
              </a:rPr>
              <a:t>10  /  33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115568"/>
            <a:ext cx="11201400" cy="2331720"/>
          </a:xfrm>
          <a:prstGeom prst="rect">
            <a:avLst/>
          </a:prstGeom>
          <a:solidFill>
            <a:srgbClr val="2A241C"/>
          </a:solidFill>
          <a:ln w="11430">
            <a:solidFill>
              <a:srgbClr val="8A6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280160"/>
            <a:ext cx="10789920" cy="20116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300" b="0">
                <a:solidFill>
                  <a:srgbClr val="B8AE9A"/>
                </a:solidFill>
                <a:latin typeface="Consolas"/>
                <a:ea typeface="微软雅黑"/>
                <a:cs typeface="Consolas"/>
              </a:rPr>
              <a:t>// p2pGetCaps()  p2p_caps.c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00" b="0">
                <a:solidFill>
                  <a:srgbClr val="F0EADC"/>
                </a:solidFill>
                <a:latin typeface="Consolas"/>
                <a:ea typeface="微软雅黑"/>
                <a:cs typeface="Consolas"/>
              </a:rPr>
              <a:t>// The classes like NV50_P2P, NV50_THIRD_PARTY_P2P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00" b="0">
                <a:solidFill>
                  <a:srgbClr val="F0EADC"/>
                </a:solidFill>
                <a:latin typeface="Consolas"/>
                <a:ea typeface="微软雅黑"/>
                <a:cs typeface="Consolas"/>
              </a:rPr>
              <a:t>// depend on direct P2P connectivity, hence the check.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00" b="0">
                <a:solidFill>
                  <a:srgbClr val="F0EADC"/>
                </a:solidFill>
                <a:latin typeface="Consolas"/>
                <a:ea typeface="微软雅黑"/>
                <a:cs typeface="Consolas"/>
              </a:rPr>
              <a:t>connectivity ∈ { PCIE_BAR1, PCIE_PROPRIETARY, NVLINK, C2C }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00" b="0">
                <a:solidFill>
                  <a:srgbClr val="F0EADC"/>
                </a:solidFill>
                <a:latin typeface="Consolas"/>
                <a:ea typeface="微软雅黑"/>
                <a:cs typeface="Consolas"/>
              </a:rPr>
              <a:t>otherwise  -&gt;  NV_ERR_NOT_SUPPORTED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657600"/>
            <a:ext cx="11155680" cy="2560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NV50_P2P：GPU 与 GPU 的 peer 对象。</a:t>
            </a:r>
          </a:p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NV50_THIRD_PARTY_P2P（0x503c）：给第三方（网卡驱动、GDRCopy）用的登记对象。</a:t>
            </a:r>
          </a:p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二者都要求「直接 P2P 连通性」为真。把 BAR1 P2P 的 flag 打开以后，</a:t>
            </a:r>
          </a:p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不是只放行了 cudaMemcpyPeer；连 0x503c 的构造许可也一并放开。</a:t>
            </a:r>
          </a:p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这就是「GDR 在内核侧可以直接适配」的依据，写在官方注释里。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D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73152" cy="256032"/>
          </a:xfrm>
          <a:prstGeom prst="rect">
            <a:avLst/>
          </a:prstGeom>
          <a:solidFill>
            <a:srgbClr val="7A2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"/>
            <a:ext cx="1078992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200" b="1">
                <a:solidFill>
                  <a:srgbClr val="7A241C"/>
                </a:solidFill>
                <a:latin typeface="宋体"/>
                <a:ea typeface="宋体"/>
                <a:cs typeface="宋体"/>
              </a:rPr>
              <a:t>三　GPU P2P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155680" cy="38404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2200" b="1">
                <a:solidFill>
                  <a:srgbClr val="2A241C"/>
                </a:solidFill>
                <a:latin typeface="宋体"/>
                <a:ea typeface="宋体"/>
                <a:cs typeface="宋体"/>
              </a:rPr>
              <a:t>GeForce 默认关掉的是申报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32688"/>
            <a:ext cx="1920240" cy="16459"/>
          </a:xfrm>
          <a:prstGeom prst="rect">
            <a:avLst/>
          </a:prstGeom>
          <a:solidFill>
            <a:srgbClr val="8A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565392"/>
            <a:ext cx="11201400" cy="10972"/>
          </a:xfrm>
          <a:prstGeom prst="rect">
            <a:avLst/>
          </a:prstGeom>
          <a:solidFill>
            <a:srgbClr val="8A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601968"/>
            <a:ext cx="7680960" cy="20116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100" b="0">
                <a:solidFill>
                  <a:srgbClr val="5A5044"/>
                </a:solidFill>
                <a:latin typeface="宋体"/>
                <a:ea typeface="宋体"/>
                <a:cs typeface="宋体"/>
              </a:rPr>
              <a:t>三　GPU P2P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601968"/>
            <a:ext cx="2194560" cy="20116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r">
              <a:lnSpc>
                <a:spcPct val="115000"/>
              </a:lnSpc>
              <a:spcAft>
                <a:spcPts val="100"/>
              </a:spcAft>
            </a:pPr>
            <a:r>
              <a:rPr sz="1100" b="0">
                <a:solidFill>
                  <a:srgbClr val="5A5044"/>
                </a:solidFill>
                <a:latin typeface="微软雅黑"/>
                <a:ea typeface="微软雅黑"/>
                <a:cs typeface="微软雅黑"/>
              </a:rPr>
              <a:t>11  /  33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115568"/>
            <a:ext cx="11201400" cy="2148840"/>
          </a:xfrm>
          <a:prstGeom prst="rect">
            <a:avLst/>
          </a:prstGeom>
          <a:solidFill>
            <a:srgbClr val="EAE3D4"/>
          </a:solidFill>
          <a:ln w="11430">
            <a:solidFill>
              <a:srgbClr val="8A6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280160"/>
            <a:ext cx="10789920" cy="1874519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芯片有 BAR1，驱动里也有完整的 BAR1 P2P 实现（页表、孔径、UVM 连接类型）。</a:t>
            </a:r>
          </a:p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产品策略不把这条路径选给消费卡：能力查询返回不支持，或 PCIe P2P 类型不落到 BAR1。</a:t>
            </a:r>
          </a:p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chipset allowlist、p2pOverride、SKU 相关的 feature disablement，都属于这一层。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429000"/>
            <a:ext cx="5486400" cy="2788920"/>
          </a:xfrm>
          <a:prstGeom prst="rect">
            <a:avLst/>
          </a:prstGeom>
          <a:solidFill>
            <a:srgbClr val="EAE3D4"/>
          </a:solidFill>
          <a:ln w="11430">
            <a:solidFill>
              <a:srgbClr val="8A6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584448"/>
            <a:ext cx="5120640" cy="329184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00" b="1">
                <a:solidFill>
                  <a:srgbClr val="7A241C"/>
                </a:solidFill>
                <a:latin typeface="宋体"/>
                <a:ea typeface="宋体"/>
                <a:cs typeface="宋体"/>
              </a:rPr>
              <a:t>不是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023360"/>
            <a:ext cx="5120640" cy="19659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4090 的 BAR 不能被对端寻址。</a:t>
            </a:r>
          </a:p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缺少一套「消费卡专用」的 DMA IP。</a:t>
            </a:r>
          </a:p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必须重写 nvidia_p2p_get_pages。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3429000"/>
            <a:ext cx="5532120" cy="2788920"/>
          </a:xfrm>
          <a:prstGeom prst="rect">
            <a:avLst/>
          </a:prstGeom>
          <a:solidFill>
            <a:srgbClr val="DFD6C6"/>
          </a:solidFill>
          <a:ln w="11430">
            <a:solidFill>
              <a:srgbClr val="8A6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3584448"/>
            <a:ext cx="5166360" cy="329184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00" b="1">
                <a:solidFill>
                  <a:srgbClr val="7A241C"/>
                </a:solidFill>
                <a:latin typeface="宋体"/>
                <a:ea typeface="宋体"/>
                <a:cs typeface="宋体"/>
              </a:rPr>
              <a:t>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4023360"/>
            <a:ext cx="5166360" cy="19659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查询路径上把能力报成「无」。</a:t>
            </a:r>
          </a:p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不选用已经存在的 PCIE_BAR1 分支。</a:t>
            </a:r>
          </a:p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BAR1 默认窗口过小，盖不住整卡 FB。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D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73152" cy="256032"/>
          </a:xfrm>
          <a:prstGeom prst="rect">
            <a:avLst/>
          </a:prstGeom>
          <a:solidFill>
            <a:srgbClr val="7A2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"/>
            <a:ext cx="1078992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200" b="1">
                <a:solidFill>
                  <a:srgbClr val="7A241C"/>
                </a:solidFill>
                <a:latin typeface="宋体"/>
                <a:ea typeface="宋体"/>
                <a:cs typeface="宋体"/>
              </a:rPr>
              <a:t>三　GPU P2P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155680" cy="38404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2200" b="1">
                <a:solidFill>
                  <a:srgbClr val="2A241C"/>
                </a:solidFill>
                <a:latin typeface="宋体"/>
                <a:ea typeface="宋体"/>
                <a:cs typeface="宋体"/>
              </a:rPr>
              <a:t>所改者，是 flag，不是协议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32688"/>
            <a:ext cx="1920240" cy="16459"/>
          </a:xfrm>
          <a:prstGeom prst="rect">
            <a:avLst/>
          </a:prstGeom>
          <a:solidFill>
            <a:srgbClr val="8A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565392"/>
            <a:ext cx="11201400" cy="10972"/>
          </a:xfrm>
          <a:prstGeom prst="rect">
            <a:avLst/>
          </a:prstGeom>
          <a:solidFill>
            <a:srgbClr val="8A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601968"/>
            <a:ext cx="7680960" cy="20116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100" b="0">
                <a:solidFill>
                  <a:srgbClr val="5A5044"/>
                </a:solidFill>
                <a:latin typeface="宋体"/>
                <a:ea typeface="宋体"/>
                <a:cs typeface="宋体"/>
              </a:rPr>
              <a:t>三　GPU P2P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601968"/>
            <a:ext cx="2194560" cy="20116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r">
              <a:lnSpc>
                <a:spcPct val="115000"/>
              </a:lnSpc>
              <a:spcAft>
                <a:spcPts val="100"/>
              </a:spcAft>
            </a:pPr>
            <a:r>
              <a:rPr sz="1100" b="0">
                <a:solidFill>
                  <a:srgbClr val="5A5044"/>
                </a:solidFill>
                <a:latin typeface="微软雅黑"/>
                <a:ea typeface="微软雅黑"/>
                <a:cs typeface="微软雅黑"/>
              </a:rPr>
              <a:t>12  /  33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201400" cy="1188720"/>
          </a:xfrm>
          <a:prstGeom prst="rect">
            <a:avLst/>
          </a:prstGeom>
          <a:solidFill>
            <a:srgbClr val="EAE3D4"/>
          </a:solidFill>
          <a:ln w="11430">
            <a:solidFill>
              <a:srgbClr val="8A6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261872"/>
            <a:ext cx="3931920" cy="8686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500" b="1">
                <a:solidFill>
                  <a:srgbClr val="7A241C"/>
                </a:solidFill>
                <a:latin typeface="Consolas"/>
                <a:ea typeface="微软雅黑"/>
                <a:cs typeface="Consolas"/>
              </a:rPr>
              <a:t>p2pOverride / ForceP2P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261872"/>
            <a:ext cx="6720840" cy="8686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绕过 chipset allowlist，强制申报 P2P 读、写能力。常见写成 0x11。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359152"/>
            <a:ext cx="11201400" cy="1188720"/>
          </a:xfrm>
          <a:prstGeom prst="rect">
            <a:avLst/>
          </a:prstGeom>
          <a:solidFill>
            <a:srgbClr val="EAE3D4"/>
          </a:solidFill>
          <a:ln w="11430">
            <a:solidFill>
              <a:srgbClr val="8A6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523744"/>
            <a:ext cx="3931920" cy="8686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500" b="1">
                <a:solidFill>
                  <a:srgbClr val="7A241C"/>
                </a:solidFill>
                <a:latin typeface="Consolas"/>
                <a:ea typeface="微软雅黑"/>
                <a:cs typeface="Consolas"/>
              </a:rPr>
              <a:t>pcieP2PType = BAR1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523744"/>
            <a:ext cx="6720840" cy="8686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让 PCIe P2P 落到 BAR1 分支。kbusIsPcieBar1P2PMappingSupported 检查的就是它。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621024"/>
            <a:ext cx="11201400" cy="1188720"/>
          </a:xfrm>
          <a:prstGeom prst="rect">
            <a:avLst/>
          </a:prstGeom>
          <a:solidFill>
            <a:srgbClr val="EAE3D4"/>
          </a:solidFill>
          <a:ln w="11430">
            <a:solidFill>
              <a:srgbClr val="8A6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785615"/>
            <a:ext cx="3931920" cy="8686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500" b="1">
                <a:solidFill>
                  <a:srgbClr val="7A241C"/>
                </a:solidFill>
                <a:latin typeface="Consolas"/>
                <a:ea typeface="微软雅黑"/>
                <a:cs typeface="Consolas"/>
              </a:rPr>
              <a:t>forceP2PType = PCIEP2P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3785615"/>
            <a:ext cx="6720840" cy="8686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不要被 NVLink/C2C 探测支走。4090 本来也没有 NVLink。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882896"/>
            <a:ext cx="11201400" cy="1188720"/>
          </a:xfrm>
          <a:prstGeom prst="rect">
            <a:avLst/>
          </a:prstGeom>
          <a:solidFill>
            <a:srgbClr val="EAE3D4"/>
          </a:solidFill>
          <a:ln w="11430">
            <a:solidFill>
              <a:srgbClr val="8A6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047488"/>
            <a:ext cx="3931920" cy="8686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500" b="1">
                <a:solidFill>
                  <a:srgbClr val="7A241C"/>
                </a:solidFill>
                <a:latin typeface="Consolas"/>
                <a:ea typeface="微软雅黑"/>
                <a:cs typeface="Consolas"/>
              </a:rPr>
              <a:t>BAR1 扩到 32 GB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5047488"/>
            <a:ext cx="6720840" cy="8686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窗口盖住工作集。默认数百 MB 时，topo 仍可能报 OK，大块持久映射放不下。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D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73152" cy="256032"/>
          </a:xfrm>
          <a:prstGeom prst="rect">
            <a:avLst/>
          </a:prstGeom>
          <a:solidFill>
            <a:srgbClr val="7A2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"/>
            <a:ext cx="1078992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200" b="1">
                <a:solidFill>
                  <a:srgbClr val="7A241C"/>
                </a:solidFill>
                <a:latin typeface="宋体"/>
                <a:ea typeface="宋体"/>
                <a:cs typeface="宋体"/>
              </a:rPr>
              <a:t>三　GPU P2P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155680" cy="38404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2200" b="1">
                <a:solidFill>
                  <a:srgbClr val="2A241C"/>
                </a:solidFill>
                <a:latin typeface="宋体"/>
                <a:ea typeface="宋体"/>
                <a:cs typeface="宋体"/>
              </a:rPr>
              <a:t>为何这些 flag 足够让 P2P 工作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32688"/>
            <a:ext cx="1920240" cy="16459"/>
          </a:xfrm>
          <a:prstGeom prst="rect">
            <a:avLst/>
          </a:prstGeom>
          <a:solidFill>
            <a:srgbClr val="8A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565392"/>
            <a:ext cx="11201400" cy="10972"/>
          </a:xfrm>
          <a:prstGeom prst="rect">
            <a:avLst/>
          </a:prstGeom>
          <a:solidFill>
            <a:srgbClr val="8A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601968"/>
            <a:ext cx="7680960" cy="20116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100" b="0">
                <a:solidFill>
                  <a:srgbClr val="5A5044"/>
                </a:solidFill>
                <a:latin typeface="宋体"/>
                <a:ea typeface="宋体"/>
                <a:cs typeface="宋体"/>
              </a:rPr>
              <a:t>三　GPU P2P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601968"/>
            <a:ext cx="2194560" cy="20116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r">
              <a:lnSpc>
                <a:spcPct val="115000"/>
              </a:lnSpc>
              <a:spcAft>
                <a:spcPts val="100"/>
              </a:spcAft>
            </a:pPr>
            <a:r>
              <a:rPr sz="1100" b="0">
                <a:solidFill>
                  <a:srgbClr val="5A5044"/>
                </a:solidFill>
                <a:latin typeface="微软雅黑"/>
                <a:ea typeface="微软雅黑"/>
                <a:cs typeface="微软雅黑"/>
              </a:rPr>
              <a:t>13  /  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097280"/>
            <a:ext cx="11155680" cy="5074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28000"/>
              </a:lnSpc>
              <a:spcAft>
                <a:spcPts val="100"/>
              </a:spcAft>
            </a:pPr>
            <a:r>
              <a:rPr sz="16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驱动在 Ada / Hopper 一代已经带了原生 BAR1 P2P：</a:t>
            </a:r>
          </a:p>
          <a:p>
            <a:pPr algn="l">
              <a:lnSpc>
                <a:spcPct val="128000"/>
              </a:lnSpc>
              <a:spcAft>
                <a:spcPts val="100"/>
              </a:spcAft>
            </a:pPr>
            <a:r>
              <a:rPr sz="16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外部 PTE、SYS_NONCOH 孔径、nv_gpu_ops 里的 BAR1 DMA 地址、UVM 的 PCIE_BAR1。</a:t>
            </a:r>
          </a:p>
          <a:p>
            <a:pPr algn="l">
              <a:lnSpc>
                <a:spcPct val="128000"/>
              </a:lnSpc>
              <a:spcAft>
                <a:spcPts val="100"/>
              </a:spcAft>
            </a:pPr>
            <a:r>
              <a:rPr sz="16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lnSpc>
                <a:spcPct val="128000"/>
              </a:lnSpc>
              <a:spcAft>
                <a:spcPts val="100"/>
              </a:spcAft>
            </a:pPr>
            <a:r>
              <a:rPr sz="16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消费卡上这条链默认不被选中。把申报位和类型位拨正，查询返回 OK，</a:t>
            </a:r>
          </a:p>
          <a:p>
            <a:pPr algn="l">
              <a:lnSpc>
                <a:spcPct val="128000"/>
              </a:lnSpc>
              <a:spcAft>
                <a:spcPts val="100"/>
              </a:spcAft>
            </a:pPr>
            <a:r>
              <a:rPr sz="16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UVM 就会走现成实现，cudaMemcpyPeer 成为设备 DMA，而不是主机中转。</a:t>
            </a:r>
          </a:p>
          <a:p>
            <a:pPr algn="l">
              <a:lnSpc>
                <a:spcPct val="128000"/>
              </a:lnSpc>
              <a:spcAft>
                <a:spcPts val="100"/>
              </a:spcAft>
            </a:pPr>
            <a:r>
              <a:rPr sz="16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lnSpc>
                <a:spcPct val="128000"/>
              </a:lnSpc>
              <a:spcAft>
                <a:spcPts val="100"/>
              </a:spcAft>
            </a:pPr>
            <a:r>
              <a:rPr sz="16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没有增加新的 PCIe 消息类型，也没有在 4090 上补一块「原来没有的 P2P 硬件」。</a:t>
            </a:r>
          </a:p>
          <a:p>
            <a:pPr algn="l">
              <a:lnSpc>
                <a:spcPct val="128000"/>
              </a:lnSpc>
              <a:spcAft>
                <a:spcPts val="100"/>
              </a:spcAft>
            </a:pPr>
            <a:r>
              <a:rPr sz="16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验证标准是对端访问经 BAR1 命中 FB，而不是「内核里多了一份补丁行数」。</a:t>
            </a:r>
          </a:p>
          <a:p>
            <a:pPr algn="l">
              <a:lnSpc>
                <a:spcPct val="128000"/>
              </a:lnSpc>
              <a:spcAft>
                <a:spcPts val="100"/>
              </a:spcAft>
            </a:pPr>
            <a:r>
              <a:rPr sz="16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lnSpc>
                <a:spcPct val="128000"/>
              </a:lnSpc>
              <a:spcAft>
                <a:spcPts val="100"/>
              </a:spcAft>
            </a:pPr>
            <a:r>
              <a:rPr sz="16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这也解释了为何社区补丁可以很小：改的是选择，不是算法。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D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73152" cy="256032"/>
          </a:xfrm>
          <a:prstGeom prst="rect">
            <a:avLst/>
          </a:prstGeom>
          <a:solidFill>
            <a:srgbClr val="7A2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"/>
            <a:ext cx="1078992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200" b="1">
                <a:solidFill>
                  <a:srgbClr val="7A241C"/>
                </a:solidFill>
                <a:latin typeface="宋体"/>
                <a:ea typeface="宋体"/>
                <a:cs typeface="宋体"/>
              </a:rPr>
              <a:t>三　GPU P2P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155680" cy="38404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2200" b="1">
                <a:solidFill>
                  <a:srgbClr val="2A241C"/>
                </a:solidFill>
                <a:latin typeface="宋体"/>
                <a:ea typeface="宋体"/>
                <a:cs typeface="宋体"/>
              </a:rPr>
              <a:t>窗口大小是几何问题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32688"/>
            <a:ext cx="1920240" cy="16459"/>
          </a:xfrm>
          <a:prstGeom prst="rect">
            <a:avLst/>
          </a:prstGeom>
          <a:solidFill>
            <a:srgbClr val="8A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565392"/>
            <a:ext cx="11201400" cy="10972"/>
          </a:xfrm>
          <a:prstGeom prst="rect">
            <a:avLst/>
          </a:prstGeom>
          <a:solidFill>
            <a:srgbClr val="8A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601968"/>
            <a:ext cx="7680960" cy="20116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100" b="0">
                <a:solidFill>
                  <a:srgbClr val="5A5044"/>
                </a:solidFill>
                <a:latin typeface="宋体"/>
                <a:ea typeface="宋体"/>
                <a:cs typeface="宋体"/>
              </a:rPr>
              <a:t>三　GPU P2P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601968"/>
            <a:ext cx="2194560" cy="20116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r">
              <a:lnSpc>
                <a:spcPct val="115000"/>
              </a:lnSpc>
              <a:spcAft>
                <a:spcPts val="100"/>
              </a:spcAft>
            </a:pPr>
            <a:r>
              <a:rPr sz="1100" b="0">
                <a:solidFill>
                  <a:srgbClr val="5A5044"/>
                </a:solidFill>
                <a:latin typeface="微软雅黑"/>
                <a:ea typeface="微软雅黑"/>
                <a:cs typeface="微软雅黑"/>
              </a:rPr>
              <a:t>14  /  33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115568"/>
            <a:ext cx="5486400" cy="5074920"/>
          </a:xfrm>
          <a:prstGeom prst="rect">
            <a:avLst/>
          </a:prstGeom>
          <a:solidFill>
            <a:srgbClr val="EAE3D4"/>
          </a:solidFill>
          <a:ln w="11430">
            <a:solidFill>
              <a:srgbClr val="8A6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298448"/>
            <a:ext cx="5074920" cy="3657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600" b="1">
                <a:solidFill>
                  <a:srgbClr val="7A241C"/>
                </a:solidFill>
                <a:latin typeface="宋体"/>
                <a:ea typeface="宋体"/>
                <a:cs typeface="宋体"/>
              </a:rPr>
              <a:t>小 BAR1（默认）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828800"/>
            <a:ext cx="5074920" cy="40233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只有一小段 FB 同时出现在 PCIe 上。</a:t>
            </a:r>
          </a:p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短时、小块的 peer 拷贝可以靠滑动窗口完成，</a:t>
            </a:r>
          </a:p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故 nvidia-smi topo -p2p 与简单 memcpyPeer 仍可能成功。</a:t>
            </a:r>
          </a:p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持久、大块的映射（NCCL 集合通信一类）</a:t>
            </a:r>
          </a:p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放不进窗口，表现为挂起或回退。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115568"/>
            <a:ext cx="5532120" cy="5074920"/>
          </a:xfrm>
          <a:prstGeom prst="rect">
            <a:avLst/>
          </a:prstGeom>
          <a:solidFill>
            <a:srgbClr val="DFD6C6"/>
          </a:solidFill>
          <a:ln w="11430">
            <a:solidFill>
              <a:srgbClr val="8A6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298448"/>
            <a:ext cx="5120640" cy="3657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600" b="1">
                <a:solidFill>
                  <a:srgbClr val="7A241C"/>
                </a:solidFill>
                <a:latin typeface="宋体"/>
                <a:ea typeface="宋体"/>
                <a:cs typeface="宋体"/>
              </a:rPr>
              <a:t>大 BAR1（本机 32 GB）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828800"/>
            <a:ext cx="5120640" cy="40233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窗口盖住整卡或工作集。</a:t>
            </a:r>
          </a:p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对端可以同时映射大段 FB。</a:t>
            </a:r>
          </a:p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GDR pin 一段连续 VA 时，对应的 BAR1 物理页</a:t>
            </a:r>
          </a:p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也必须落在这扇窗里。</a:t>
            </a:r>
          </a:p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故扩 BAR1 是 P2P 与 GDR 的共同前提，</a:t>
            </a:r>
          </a:p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不是「只给 GPU 互访用的附加项」。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D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73152" cy="256032"/>
          </a:xfrm>
          <a:prstGeom prst="rect">
            <a:avLst/>
          </a:prstGeom>
          <a:solidFill>
            <a:srgbClr val="7A2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"/>
            <a:ext cx="1078992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200" b="1">
                <a:solidFill>
                  <a:srgbClr val="7A241C"/>
                </a:solidFill>
                <a:latin typeface="宋体"/>
                <a:ea typeface="宋体"/>
                <a:cs typeface="宋体"/>
              </a:rPr>
              <a:t>三　GPU P2P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155680" cy="38404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2200" b="1">
                <a:solidFill>
                  <a:srgbClr val="2A241C"/>
                </a:solidFill>
                <a:latin typeface="宋体"/>
                <a:ea typeface="宋体"/>
                <a:cs typeface="宋体"/>
              </a:rPr>
              <a:t>本机已成立的事实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32688"/>
            <a:ext cx="1920240" cy="16459"/>
          </a:xfrm>
          <a:prstGeom prst="rect">
            <a:avLst/>
          </a:prstGeom>
          <a:solidFill>
            <a:srgbClr val="8A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565392"/>
            <a:ext cx="11201400" cy="10972"/>
          </a:xfrm>
          <a:prstGeom prst="rect">
            <a:avLst/>
          </a:prstGeom>
          <a:solidFill>
            <a:srgbClr val="8A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601968"/>
            <a:ext cx="7680960" cy="20116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100" b="0">
                <a:solidFill>
                  <a:srgbClr val="5A5044"/>
                </a:solidFill>
                <a:latin typeface="宋体"/>
                <a:ea typeface="宋体"/>
                <a:cs typeface="宋体"/>
              </a:rPr>
              <a:t>三　GPU P2P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601968"/>
            <a:ext cx="2194560" cy="20116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r">
              <a:lnSpc>
                <a:spcPct val="115000"/>
              </a:lnSpc>
              <a:spcAft>
                <a:spcPts val="100"/>
              </a:spcAft>
            </a:pPr>
            <a:r>
              <a:rPr sz="1100" b="0">
                <a:solidFill>
                  <a:srgbClr val="5A5044"/>
                </a:solidFill>
                <a:latin typeface="微软雅黑"/>
                <a:ea typeface="微软雅黑"/>
                <a:cs typeface="微软雅黑"/>
              </a:rPr>
              <a:t>15  /  33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115568"/>
            <a:ext cx="11201400" cy="1170432"/>
          </a:xfrm>
          <a:prstGeom prst="rect">
            <a:avLst/>
          </a:prstGeom>
          <a:solidFill>
            <a:srgbClr val="EAE3D4"/>
          </a:solidFill>
          <a:ln w="11430">
            <a:solidFill>
              <a:srgbClr val="8A6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115568"/>
            <a:ext cx="2377440" cy="117043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500" b="1">
                <a:solidFill>
                  <a:srgbClr val="7A241C"/>
                </a:solidFill>
                <a:latin typeface="宋体"/>
                <a:ea typeface="宋体"/>
                <a:cs typeface="宋体"/>
              </a:rPr>
              <a:t>卡与驱动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1115568"/>
            <a:ext cx="8229600" cy="117043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RTX 4090 D，NVIDIA 575.64.05，CUDA 12.9，AArch64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359152"/>
            <a:ext cx="11201400" cy="1170432"/>
          </a:xfrm>
          <a:prstGeom prst="rect">
            <a:avLst/>
          </a:prstGeom>
          <a:solidFill>
            <a:srgbClr val="EAE3D4"/>
          </a:solidFill>
          <a:ln w="11430">
            <a:solidFill>
              <a:srgbClr val="8A6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359152"/>
            <a:ext cx="2377440" cy="117043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500" b="1">
                <a:solidFill>
                  <a:srgbClr val="7A241C"/>
                </a:solidFill>
                <a:latin typeface="宋体"/>
                <a:ea typeface="宋体"/>
                <a:cs typeface="宋体"/>
              </a:rPr>
              <a:t>内核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2359152"/>
            <a:ext cx="8229600" cy="117043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aikitoria 575.64.05-p2p。GPU↔GPU BAR1 P2P 已通。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602736"/>
            <a:ext cx="11201400" cy="1170432"/>
          </a:xfrm>
          <a:prstGeom prst="rect">
            <a:avLst/>
          </a:prstGeom>
          <a:solidFill>
            <a:srgbClr val="EAE3D4"/>
          </a:solidFill>
          <a:ln w="11430">
            <a:solidFill>
              <a:srgbClr val="8A6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602736"/>
            <a:ext cx="2377440" cy="117043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500" b="1">
                <a:solidFill>
                  <a:srgbClr val="7A241C"/>
                </a:solidFill>
                <a:latin typeface="宋体"/>
                <a:ea typeface="宋体"/>
                <a:cs typeface="宋体"/>
              </a:rPr>
              <a:t>BAR1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3602736"/>
            <a:ext cx="8229600" cy="117043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32 GB。不要再为 GDR 改这份 NVIDIA 内核。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846320"/>
            <a:ext cx="11201400" cy="1170432"/>
          </a:xfrm>
          <a:prstGeom prst="rect">
            <a:avLst/>
          </a:prstGeom>
          <a:solidFill>
            <a:srgbClr val="EAE3D4"/>
          </a:solidFill>
          <a:ln w="11430">
            <a:solidFill>
              <a:srgbClr val="8A6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846320"/>
            <a:ext cx="2377440" cy="117043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500" b="1">
                <a:solidFill>
                  <a:srgbClr val="7A241C"/>
                </a:solidFill>
                <a:latin typeface="宋体"/>
                <a:ea typeface="宋体"/>
                <a:cs typeface="宋体"/>
              </a:rPr>
              <a:t>尚未成立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46120" y="4846320"/>
            <a:ext cx="8229600" cy="117043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GDRCopy gdr_pin_buffer → nvidia_p2p_get_pages 仍曾返回 -22。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D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73152" cy="256032"/>
          </a:xfrm>
          <a:prstGeom prst="rect">
            <a:avLst/>
          </a:prstGeom>
          <a:solidFill>
            <a:srgbClr val="7A2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"/>
            <a:ext cx="1078992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200" b="1">
                <a:solidFill>
                  <a:srgbClr val="7A241C"/>
                </a:solidFill>
                <a:latin typeface="宋体"/>
                <a:ea typeface="宋体"/>
                <a:cs typeface="宋体"/>
              </a:rPr>
              <a:t>四　GDR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155680" cy="38404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2200" b="1">
                <a:solidFill>
                  <a:srgbClr val="2A241C"/>
                </a:solidFill>
                <a:latin typeface="宋体"/>
                <a:ea typeface="宋体"/>
                <a:cs typeface="宋体"/>
              </a:rPr>
              <a:t>对端换成网卡，窗还是那一扇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32688"/>
            <a:ext cx="1920240" cy="16459"/>
          </a:xfrm>
          <a:prstGeom prst="rect">
            <a:avLst/>
          </a:prstGeom>
          <a:solidFill>
            <a:srgbClr val="8A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565392"/>
            <a:ext cx="11201400" cy="10972"/>
          </a:xfrm>
          <a:prstGeom prst="rect">
            <a:avLst/>
          </a:prstGeom>
          <a:solidFill>
            <a:srgbClr val="8A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601968"/>
            <a:ext cx="7680960" cy="20116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100" b="0">
                <a:solidFill>
                  <a:srgbClr val="5A5044"/>
                </a:solidFill>
                <a:latin typeface="宋体"/>
                <a:ea typeface="宋体"/>
                <a:cs typeface="宋体"/>
              </a:rPr>
              <a:t>四　GDR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601968"/>
            <a:ext cx="2194560" cy="20116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r">
              <a:lnSpc>
                <a:spcPct val="115000"/>
              </a:lnSpc>
              <a:spcAft>
                <a:spcPts val="100"/>
              </a:spcAft>
            </a:pPr>
            <a:r>
              <a:rPr sz="1100" b="0">
                <a:solidFill>
                  <a:srgbClr val="5A5044"/>
                </a:solidFill>
                <a:latin typeface="微软雅黑"/>
                <a:ea typeface="微软雅黑"/>
                <a:cs typeface="微软雅黑"/>
              </a:rPr>
              <a:t>16  /  33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115568"/>
            <a:ext cx="11201400" cy="2011680"/>
          </a:xfrm>
          <a:prstGeom prst="rect">
            <a:avLst/>
          </a:prstGeom>
          <a:solidFill>
            <a:srgbClr val="EAE3D4"/>
          </a:solidFill>
          <a:ln w="11430">
            <a:solidFill>
              <a:srgbClr val="8A6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280160"/>
            <a:ext cx="10789920" cy="16916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GPUDirect RDMA：网卡作为 PCIe 请求者，按 GPU 的地址去 DMA 读或写显存。</a:t>
            </a:r>
          </a:p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省掉的是主机 bounce：不再 GPU→CPU 内存→NIC。</a:t>
            </a:r>
          </a:p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GDRCopy 的 gdr_pin_buffer，问的就是：这段 CUDA VA，能否变成网卡可用的页表。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291840"/>
            <a:ext cx="5486400" cy="2926080"/>
          </a:xfrm>
          <a:prstGeom prst="rect">
            <a:avLst/>
          </a:prstGeom>
          <a:solidFill>
            <a:srgbClr val="EAE3D4"/>
          </a:solidFill>
          <a:ln w="11430">
            <a:solidFill>
              <a:srgbClr val="8A6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456432"/>
            <a:ext cx="5120640" cy="329184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00" b="1">
                <a:solidFill>
                  <a:srgbClr val="7A241C"/>
                </a:solidFill>
                <a:latin typeface="宋体"/>
                <a:ea typeface="宋体"/>
                <a:cs typeface="宋体"/>
              </a:rPr>
              <a:t>P2P 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86200"/>
            <a:ext cx="5120640" cy="21031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对端 GPU 自己有 MMU。</a:t>
            </a:r>
          </a:p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CUDA/UVM 替它填 PTE。</a:t>
            </a:r>
          </a:p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应用不必向 RM「登记」这块 VA。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3291840"/>
            <a:ext cx="5532120" cy="2926080"/>
          </a:xfrm>
          <a:prstGeom prst="rect">
            <a:avLst/>
          </a:prstGeom>
          <a:solidFill>
            <a:srgbClr val="DFD6C6"/>
          </a:solidFill>
          <a:ln w="11430">
            <a:solidFill>
              <a:srgbClr val="8A6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3456432"/>
            <a:ext cx="5166360" cy="329184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00" b="1">
                <a:solidFill>
                  <a:srgbClr val="7A241C"/>
                </a:solidFill>
                <a:latin typeface="宋体"/>
                <a:ea typeface="宋体"/>
                <a:cs typeface="宋体"/>
              </a:rPr>
              <a:t>GDR 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3886200"/>
            <a:ext cx="5166360" cy="21031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网卡没有 GPU MMU。</a:t>
            </a:r>
          </a:p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它向 NVIDIA 驱动要一张物理页表。</a:t>
            </a:r>
          </a:p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驱动只在登记本上有这条 VA 时才给。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D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73152" cy="256032"/>
          </a:xfrm>
          <a:prstGeom prst="rect">
            <a:avLst/>
          </a:prstGeom>
          <a:solidFill>
            <a:srgbClr val="7A2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"/>
            <a:ext cx="1078992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200" b="1">
                <a:solidFill>
                  <a:srgbClr val="7A241C"/>
                </a:solidFill>
                <a:latin typeface="宋体"/>
                <a:ea typeface="宋体"/>
                <a:cs typeface="宋体"/>
              </a:rPr>
              <a:t>四　GDR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155680" cy="38404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2200" b="1">
                <a:solidFill>
                  <a:srgbClr val="2A241C"/>
                </a:solidFill>
                <a:latin typeface="宋体"/>
                <a:ea typeface="宋体"/>
                <a:cs typeface="宋体"/>
              </a:rPr>
              <a:t>nvidia_p2p_get_pages 在要什么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32688"/>
            <a:ext cx="1920240" cy="16459"/>
          </a:xfrm>
          <a:prstGeom prst="rect">
            <a:avLst/>
          </a:prstGeom>
          <a:solidFill>
            <a:srgbClr val="8A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565392"/>
            <a:ext cx="11201400" cy="10972"/>
          </a:xfrm>
          <a:prstGeom prst="rect">
            <a:avLst/>
          </a:prstGeom>
          <a:solidFill>
            <a:srgbClr val="8A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601968"/>
            <a:ext cx="7680960" cy="20116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100" b="0">
                <a:solidFill>
                  <a:srgbClr val="5A5044"/>
                </a:solidFill>
                <a:latin typeface="宋体"/>
                <a:ea typeface="宋体"/>
                <a:cs typeface="宋体"/>
              </a:rPr>
              <a:t>四　GDR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601968"/>
            <a:ext cx="2194560" cy="20116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r">
              <a:lnSpc>
                <a:spcPct val="115000"/>
              </a:lnSpc>
              <a:spcAft>
                <a:spcPts val="100"/>
              </a:spcAft>
            </a:pPr>
            <a:r>
              <a:rPr sz="1100" b="0">
                <a:solidFill>
                  <a:srgbClr val="5A5044"/>
                </a:solidFill>
                <a:latin typeface="微软雅黑"/>
                <a:ea typeface="微软雅黑"/>
                <a:cs typeface="微软雅黑"/>
              </a:rPr>
              <a:t>17  /  33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115568"/>
            <a:ext cx="11201400" cy="2468880"/>
          </a:xfrm>
          <a:prstGeom prst="rect">
            <a:avLst/>
          </a:prstGeom>
          <a:solidFill>
            <a:srgbClr val="2A241C"/>
          </a:solidFill>
          <a:ln w="11430">
            <a:solidFill>
              <a:srgbClr val="8A6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280160"/>
            <a:ext cx="10789920" cy="21488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00" b="0">
                <a:solidFill>
                  <a:srgbClr val="F0EADC"/>
                </a:solidFill>
                <a:latin typeface="Consolas"/>
                <a:ea typeface="微软雅黑"/>
                <a:cs typeface="Consolas"/>
              </a:rPr>
              <a:t>int nvidia_p2p_get_pages(token, va_space, va, length, &amp;page_table, ...);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300" b="0">
                <a:solidFill>
                  <a:srgbClr val="B8AE9A"/>
                </a:solidFill>
                <a:latin typeface="Consolas"/>
                <a:ea typeface="微软雅黑"/>
                <a:cs typeface="Consolas"/>
              </a:rPr>
              <a:t>/* 只要 pinned、在 GPU 上的内存，如 cudaMalloc */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300" b="0">
                <a:solidFill>
                  <a:srgbClr val="B8AE9A"/>
                </a:solidFill>
                <a:latin typeface="Consolas"/>
                <a:ea typeface="微软雅黑"/>
                <a:cs typeface="Consolas"/>
              </a:rPr>
              <a:t>/* va、length 须 64KB 对齐 */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300" b="0">
                <a:solidFill>
                  <a:srgbClr val="B8AE9A"/>
                </a:solidFill>
                <a:latin typeface="Consolas"/>
                <a:ea typeface="微软雅黑"/>
                <a:cs typeface="Consolas"/>
              </a:rPr>
              <a:t>/* 成功：page_table-&gt;pages[i].physical_address 可供第三方 DMA */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794760"/>
            <a:ext cx="11155680" cy="24231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随后 nvidia_p2p_dma_map_pages(peer_pci_dev, page_table, &amp;dma_mapping)</a:t>
            </a:r>
          </a:p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把这些物理页变成该网卡可用的 DMA 地址。</a:t>
            </a:r>
          </a:p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GDRCopy、nvidia-peermem 都走这组导出符号。它们不实现 GPU 页表，只向 NVIDIA 驱动查询。</a:t>
            </a:r>
          </a:p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查询失败时 errno 为 EINVAL，RM 状态常见 0x57（OBJECT_NOT_FOUND）。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D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73152" cy="256032"/>
          </a:xfrm>
          <a:prstGeom prst="rect">
            <a:avLst/>
          </a:prstGeom>
          <a:solidFill>
            <a:srgbClr val="7A2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"/>
            <a:ext cx="1078992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200" b="1">
                <a:solidFill>
                  <a:srgbClr val="7A241C"/>
                </a:solidFill>
                <a:latin typeface="宋体"/>
                <a:ea typeface="宋体"/>
                <a:cs typeface="宋体"/>
              </a:rPr>
              <a:t>四　GDR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155680" cy="38404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2200" b="1">
                <a:solidFill>
                  <a:srgbClr val="2A241C"/>
                </a:solidFill>
                <a:latin typeface="宋体"/>
                <a:ea typeface="宋体"/>
                <a:cs typeface="宋体"/>
              </a:rPr>
              <a:t>为何 P2P 一通，GDR 在内核侧即可适配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32688"/>
            <a:ext cx="1920240" cy="16459"/>
          </a:xfrm>
          <a:prstGeom prst="rect">
            <a:avLst/>
          </a:prstGeom>
          <a:solidFill>
            <a:srgbClr val="8A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565392"/>
            <a:ext cx="11201400" cy="10972"/>
          </a:xfrm>
          <a:prstGeom prst="rect">
            <a:avLst/>
          </a:prstGeom>
          <a:solidFill>
            <a:srgbClr val="8A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601968"/>
            <a:ext cx="7680960" cy="20116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100" b="0">
                <a:solidFill>
                  <a:srgbClr val="5A5044"/>
                </a:solidFill>
                <a:latin typeface="宋体"/>
                <a:ea typeface="宋体"/>
                <a:cs typeface="宋体"/>
              </a:rPr>
              <a:t>四　GDR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601968"/>
            <a:ext cx="2194560" cy="20116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r">
              <a:lnSpc>
                <a:spcPct val="115000"/>
              </a:lnSpc>
              <a:spcAft>
                <a:spcPts val="100"/>
              </a:spcAft>
            </a:pPr>
            <a:r>
              <a:rPr sz="1100" b="0">
                <a:solidFill>
                  <a:srgbClr val="5A5044"/>
                </a:solidFill>
                <a:latin typeface="微软雅黑"/>
                <a:ea typeface="微软雅黑"/>
                <a:cs typeface="微软雅黑"/>
              </a:rPr>
              <a:t>18  /  33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115568"/>
            <a:ext cx="11201400" cy="1078992"/>
          </a:xfrm>
          <a:prstGeom prst="rect">
            <a:avLst/>
          </a:prstGeom>
          <a:solidFill>
            <a:srgbClr val="EAE3D4"/>
          </a:solidFill>
          <a:ln w="11430">
            <a:solidFill>
              <a:srgbClr val="8A6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115568"/>
            <a:ext cx="502920" cy="107899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800" b="1">
                <a:solidFill>
                  <a:srgbClr val="7A241C"/>
                </a:solidFill>
                <a:latin typeface="宋体"/>
                <a:ea typeface="宋体"/>
                <a:cs typeface="宋体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1115568"/>
            <a:ext cx="10149840" cy="107899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6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连通性已经是 PCIE_BAR1。p2pGetCaps 允许构造 NV50_THIRD_PARTY_P2P。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286000"/>
            <a:ext cx="11201400" cy="1078992"/>
          </a:xfrm>
          <a:prstGeom prst="rect">
            <a:avLst/>
          </a:prstGeom>
          <a:solidFill>
            <a:srgbClr val="EAE3D4"/>
          </a:solidFill>
          <a:ln w="11430">
            <a:solidFill>
              <a:srgbClr val="8A6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286000"/>
            <a:ext cx="502920" cy="107899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800" b="1">
                <a:solidFill>
                  <a:srgbClr val="7A241C"/>
                </a:solidFill>
                <a:latin typeface="宋体"/>
                <a:ea typeface="宋体"/>
                <a:cs typeface="宋体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286000"/>
            <a:ext cx="10149840" cy="107899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6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get_pages 的实现本来就会按登记项去建 BAR1 上的页表，并不另要一套「GDR 专用引擎」。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456432"/>
            <a:ext cx="11201400" cy="1078992"/>
          </a:xfrm>
          <a:prstGeom prst="rect">
            <a:avLst/>
          </a:prstGeom>
          <a:solidFill>
            <a:srgbClr val="EAE3D4"/>
          </a:solidFill>
          <a:ln w="11430">
            <a:solidFill>
              <a:srgbClr val="8A6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456432"/>
            <a:ext cx="502920" cy="107899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800" b="1">
                <a:solidFill>
                  <a:srgbClr val="7A241C"/>
                </a:solidFill>
                <a:latin typeface="宋体"/>
                <a:ea typeface="宋体"/>
                <a:cs typeface="宋体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3456432"/>
            <a:ext cx="10149840" cy="107899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6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网卡与对端 GPU 都是 PCIe 请求者。对 RM 而言，差在调用者是 UVM 还是第三方模块。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626864"/>
            <a:ext cx="11201400" cy="1078992"/>
          </a:xfrm>
          <a:prstGeom prst="rect">
            <a:avLst/>
          </a:prstGeom>
          <a:solidFill>
            <a:srgbClr val="EAE3D4"/>
          </a:solidFill>
          <a:ln w="11430">
            <a:solidFill>
              <a:srgbClr val="8A6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626864"/>
            <a:ext cx="502920" cy="107899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800" b="1">
                <a:solidFill>
                  <a:srgbClr val="7A241C"/>
                </a:solidFill>
                <a:latin typeface="宋体"/>
                <a:ea typeface="宋体"/>
                <a:cs typeface="宋体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10149840" cy="107899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6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BAR1 已经够大。pin 出来的页落在同一扇窗里，dma_map_pages 才能交给 NIC。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D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73152" cy="256032"/>
          </a:xfrm>
          <a:prstGeom prst="rect">
            <a:avLst/>
          </a:prstGeom>
          <a:solidFill>
            <a:srgbClr val="7A2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"/>
            <a:ext cx="1078992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200" b="1">
                <a:solidFill>
                  <a:srgbClr val="7A241C"/>
                </a:solidFill>
                <a:latin typeface="宋体"/>
                <a:ea typeface="宋体"/>
                <a:cs typeface="宋体"/>
              </a:rPr>
              <a:t>四　GDR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155680" cy="38404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2200" b="1">
                <a:solidFill>
                  <a:srgbClr val="2A241C"/>
                </a:solidFill>
                <a:latin typeface="宋体"/>
                <a:ea typeface="宋体"/>
                <a:cs typeface="宋体"/>
              </a:rPr>
              <a:t>应用层仍然失败的原因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32688"/>
            <a:ext cx="1920240" cy="16459"/>
          </a:xfrm>
          <a:prstGeom prst="rect">
            <a:avLst/>
          </a:prstGeom>
          <a:solidFill>
            <a:srgbClr val="8A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565392"/>
            <a:ext cx="11201400" cy="10972"/>
          </a:xfrm>
          <a:prstGeom prst="rect">
            <a:avLst/>
          </a:prstGeom>
          <a:solidFill>
            <a:srgbClr val="8A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601968"/>
            <a:ext cx="7680960" cy="20116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100" b="0">
                <a:solidFill>
                  <a:srgbClr val="5A5044"/>
                </a:solidFill>
                <a:latin typeface="宋体"/>
                <a:ea typeface="宋体"/>
                <a:cs typeface="宋体"/>
              </a:rPr>
              <a:t>四　GDR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601968"/>
            <a:ext cx="2194560" cy="20116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r">
              <a:lnSpc>
                <a:spcPct val="115000"/>
              </a:lnSpc>
              <a:spcAft>
                <a:spcPts val="100"/>
              </a:spcAft>
            </a:pPr>
            <a:r>
              <a:rPr sz="1100" b="0">
                <a:solidFill>
                  <a:srgbClr val="5A5044"/>
                </a:solidFill>
                <a:latin typeface="微软雅黑"/>
                <a:ea typeface="微软雅黑"/>
                <a:cs typeface="微软雅黑"/>
              </a:rPr>
              <a:t>19  /  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097280"/>
            <a:ext cx="11155680" cy="9144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get_pages 在 RM 内按 VA 查找 CliGetThirdPartyP2PVidmemInfoFromAddress。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找不到，返回 NV_ERR_OBJECT_NOT_FOUND（0x57），映射到用户态 -EINVAL（-22）。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194560"/>
            <a:ext cx="11201400" cy="1965960"/>
          </a:xfrm>
          <a:prstGeom prst="rect">
            <a:avLst/>
          </a:prstGeom>
          <a:solidFill>
            <a:srgbClr val="2A241C"/>
          </a:solidFill>
          <a:ln w="11430">
            <a:solidFill>
              <a:srgbClr val="8A6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331720"/>
            <a:ext cx="10789920" cy="16916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300" b="0">
                <a:solidFill>
                  <a:srgbClr val="B8AE9A"/>
                </a:solidFill>
                <a:latin typeface="Consolas"/>
                <a:ea typeface="微软雅黑"/>
                <a:cs typeface="Consolas"/>
              </a:rPr>
              <a:t>// p2p.c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00" b="0">
                <a:solidFill>
                  <a:srgbClr val="F0EADC"/>
                </a:solidFill>
                <a:latin typeface="Consolas"/>
                <a:ea typeface="微软雅黑"/>
                <a:cs typeface="Consolas"/>
              </a:rPr>
              <a:t>// GeForce / consumer CUDA never sends NV503C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00" b="0">
                <a:solidFill>
                  <a:srgbClr val="F0EADC"/>
                </a:solidFill>
                <a:latin typeface="Consolas"/>
                <a:ea typeface="微软雅黑"/>
                <a:cs typeface="Consolas"/>
              </a:rPr>
              <a:t>// REGISTER_VA_SPACE / REGISTER_VIDMEM.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00" b="0">
                <a:solidFill>
                  <a:srgbClr val="F0EADC"/>
                </a:solidFill>
                <a:latin typeface="Consolas"/>
                <a:ea typeface="微软雅黑"/>
                <a:cs typeface="Consolas"/>
              </a:rPr>
              <a:t>// nvidia_p2p_get_pages() then fails with 0x57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00" b="0">
                <a:solidFill>
                  <a:srgbClr val="F0EADC"/>
                </a:solidFill>
                <a:latin typeface="Consolas"/>
                <a:ea typeface="微软雅黑"/>
                <a:cs typeface="Consolas"/>
              </a:rPr>
              <a:t>// even though a ThirdPartyP2P object may exist.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343400"/>
            <a:ext cx="11155680" cy="1874519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Tesla / 数据中心卡的 libcuda：自己 Alloc 0x503c，再登记 VA space 与 vidmem。</a:t>
            </a:r>
          </a:p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GeForce 的 libcuda：不发这三步。内核再允许构造 TPP，本上仍是空的。</a:t>
            </a:r>
          </a:p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故：P2P flag 解决连通性；登记是另一层，不能靠再翻一个内核 bit 补上。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D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73152" cy="256032"/>
          </a:xfrm>
          <a:prstGeom prst="rect">
            <a:avLst/>
          </a:prstGeom>
          <a:solidFill>
            <a:srgbClr val="7A2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"/>
            <a:ext cx="1078992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200" b="1">
                <a:solidFill>
                  <a:srgbClr val="7A241C"/>
                </a:solidFill>
                <a:latin typeface="宋体"/>
                <a:ea typeface="宋体"/>
                <a:cs typeface="宋体"/>
              </a:rPr>
              <a:t>四　GDR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155680" cy="38404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2200" b="1">
                <a:solidFill>
                  <a:srgbClr val="2A241C"/>
                </a:solidFill>
                <a:latin typeface="宋体"/>
                <a:ea typeface="宋体"/>
                <a:cs typeface="宋体"/>
              </a:rPr>
              <a:t>登记本上的三笔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32688"/>
            <a:ext cx="1920240" cy="16459"/>
          </a:xfrm>
          <a:prstGeom prst="rect">
            <a:avLst/>
          </a:prstGeom>
          <a:solidFill>
            <a:srgbClr val="8A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565392"/>
            <a:ext cx="11201400" cy="10972"/>
          </a:xfrm>
          <a:prstGeom prst="rect">
            <a:avLst/>
          </a:prstGeom>
          <a:solidFill>
            <a:srgbClr val="8A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601968"/>
            <a:ext cx="7680960" cy="20116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100" b="0">
                <a:solidFill>
                  <a:srgbClr val="5A5044"/>
                </a:solidFill>
                <a:latin typeface="宋体"/>
                <a:ea typeface="宋体"/>
                <a:cs typeface="宋体"/>
              </a:rPr>
              <a:t>四　GDR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601968"/>
            <a:ext cx="2194560" cy="20116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r">
              <a:lnSpc>
                <a:spcPct val="115000"/>
              </a:lnSpc>
              <a:spcAft>
                <a:spcPts val="100"/>
              </a:spcAft>
            </a:pPr>
            <a:r>
              <a:rPr sz="1100" b="0">
                <a:solidFill>
                  <a:srgbClr val="5A5044"/>
                </a:solidFill>
                <a:latin typeface="微软雅黑"/>
                <a:ea typeface="微软雅黑"/>
                <a:cs typeface="微软雅黑"/>
              </a:rPr>
              <a:t>20  /  33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115568"/>
            <a:ext cx="11201400" cy="1234440"/>
          </a:xfrm>
          <a:prstGeom prst="rect">
            <a:avLst/>
          </a:prstGeom>
          <a:solidFill>
            <a:srgbClr val="EAE3D4"/>
          </a:solidFill>
          <a:ln w="11430">
            <a:solidFill>
              <a:srgbClr val="8A6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115568"/>
            <a:ext cx="3017520" cy="123444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600" b="1">
                <a:solidFill>
                  <a:srgbClr val="7A241C"/>
                </a:solidFill>
                <a:latin typeface="Consolas"/>
                <a:ea typeface="微软雅黑"/>
                <a:cs typeface="Consolas"/>
              </a:rPr>
              <a:t>Alloc 0x503c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1115568"/>
            <a:ext cx="7635240" cy="123444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NV50_THIRD_PARTY_P2P。挂在 subdevice 下。类型取 BAR1。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441448"/>
            <a:ext cx="11201400" cy="1234440"/>
          </a:xfrm>
          <a:prstGeom prst="rect">
            <a:avLst/>
          </a:prstGeom>
          <a:solidFill>
            <a:srgbClr val="EAE3D4"/>
          </a:solidFill>
          <a:ln w="11430">
            <a:solidFill>
              <a:srgbClr val="8A6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441448"/>
            <a:ext cx="3017520" cy="123444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600" b="1">
                <a:solidFill>
                  <a:srgbClr val="7A241C"/>
                </a:solidFill>
                <a:latin typeface="Consolas"/>
                <a:ea typeface="微软雅黑"/>
                <a:cs typeface="Consolas"/>
              </a:rPr>
              <a:t>0x503c0102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441448"/>
            <a:ext cx="7635240" cy="123444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REGISTER_VA_SPACE。声明这本本子管哪一个 GPU VA space。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767328"/>
            <a:ext cx="11201400" cy="1234440"/>
          </a:xfrm>
          <a:prstGeom prst="rect">
            <a:avLst/>
          </a:prstGeom>
          <a:solidFill>
            <a:srgbClr val="EAE3D4"/>
          </a:solidFill>
          <a:ln w="11430">
            <a:solidFill>
              <a:srgbClr val="8A6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767328"/>
            <a:ext cx="3017520" cy="123444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600" b="1">
                <a:solidFill>
                  <a:srgbClr val="7A241C"/>
                </a:solidFill>
                <a:latin typeface="Consolas"/>
                <a:ea typeface="微软雅黑"/>
                <a:cs typeface="Consolas"/>
              </a:rPr>
              <a:t>0x503c0104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3767328"/>
            <a:ext cx="7635240" cy="123444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REGISTER_VIDMEM。写入 hMemory、VA、size。地址与长度须 64K 对齐。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212080"/>
            <a:ext cx="11155680" cy="10515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00" b="0">
                <a:solidFill>
                  <a:srgbClr val="5A5044"/>
                </a:solidFill>
                <a:latin typeface="微软雅黑"/>
                <a:ea typeface="微软雅黑"/>
                <a:cs typeface="微软雅黑"/>
              </a:rPr>
              <a:t>hMemory 须是可登记的显存对象，通常是 class 0x40（NV01_MEMORY_LOCAL_USER）。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00" b="0">
                <a:solidFill>
                  <a:srgbClr val="5A5044"/>
                </a:solidFill>
                <a:latin typeface="微软雅黑"/>
                <a:ea typeface="微软雅黑"/>
                <a:cs typeface="微软雅黑"/>
              </a:rPr>
              <a:t>普通 cuMemAlloc 走 UVM 时，RM 里往往没有这张档案，故后文要把分配换成 VMM。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D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73152" cy="256032"/>
          </a:xfrm>
          <a:prstGeom prst="rect">
            <a:avLst/>
          </a:prstGeom>
          <a:solidFill>
            <a:srgbClr val="7A2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"/>
            <a:ext cx="1078992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200" b="1">
                <a:solidFill>
                  <a:srgbClr val="7A241C"/>
                </a:solidFill>
                <a:latin typeface="宋体"/>
                <a:ea typeface="宋体"/>
                <a:cs typeface="宋体"/>
              </a:rPr>
              <a:t>五　借鉴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155680" cy="38404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2200" b="1">
                <a:solidFill>
                  <a:srgbClr val="2A241C"/>
                </a:solidFill>
                <a:latin typeface="宋体"/>
                <a:ea typeface="宋体"/>
                <a:cs typeface="宋体"/>
              </a:rPr>
              <a:t>Harry 的 5090：闸也在用户态，但那是另一扇门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32688"/>
            <a:ext cx="1920240" cy="16459"/>
          </a:xfrm>
          <a:prstGeom prst="rect">
            <a:avLst/>
          </a:prstGeom>
          <a:solidFill>
            <a:srgbClr val="8A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565392"/>
            <a:ext cx="11201400" cy="10972"/>
          </a:xfrm>
          <a:prstGeom prst="rect">
            <a:avLst/>
          </a:prstGeom>
          <a:solidFill>
            <a:srgbClr val="8A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601968"/>
            <a:ext cx="7680960" cy="20116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100" b="0">
                <a:solidFill>
                  <a:srgbClr val="5A5044"/>
                </a:solidFill>
                <a:latin typeface="宋体"/>
                <a:ea typeface="宋体"/>
                <a:cs typeface="宋体"/>
              </a:rPr>
              <a:t>五　借鉴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601968"/>
            <a:ext cx="2194560" cy="20116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r">
              <a:lnSpc>
                <a:spcPct val="115000"/>
              </a:lnSpc>
              <a:spcAft>
                <a:spcPts val="100"/>
              </a:spcAft>
            </a:pPr>
            <a:r>
              <a:rPr sz="1100" b="0">
                <a:solidFill>
                  <a:srgbClr val="5A5044"/>
                </a:solidFill>
                <a:latin typeface="微软雅黑"/>
                <a:ea typeface="微软雅黑"/>
                <a:cs typeface="微软雅黑"/>
              </a:rPr>
              <a:t>21  /  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078992"/>
            <a:ext cx="11155680" cy="3657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300" b="0">
                <a:solidFill>
                  <a:srgbClr val="5A5044"/>
                </a:solidFill>
                <a:latin typeface="Consolas"/>
                <a:ea typeface="微软雅黑"/>
                <a:cs typeface="Consolas"/>
              </a:rPr>
              <a:t>harrychen.xyz/2026/05/20/enable-gpudirect-rdma-on-rtx-5090/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508760"/>
            <a:ext cx="11201400" cy="1097280"/>
          </a:xfrm>
          <a:prstGeom prst="rect">
            <a:avLst/>
          </a:prstGeom>
          <a:solidFill>
            <a:srgbClr val="EAE3D4"/>
          </a:solidFill>
          <a:ln w="11430">
            <a:solidFill>
              <a:srgbClr val="8A6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618488"/>
            <a:ext cx="5486400" cy="877824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00" b="1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内核 dma-buf 能力位置上，CUDA 仍报 0。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618488"/>
            <a:ext cx="5257800" cy="877824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00" b="0">
                <a:solidFill>
                  <a:srgbClr val="5A5044"/>
                </a:solidFill>
                <a:latin typeface="微软雅黑"/>
                <a:ea typeface="微软雅黑"/>
                <a:cs typeface="微软雅黑"/>
              </a:rPr>
              <a:t>与本稿相同的教训：驱动点头，libcuda 可以继续摇头。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660904"/>
            <a:ext cx="11201400" cy="1097280"/>
          </a:xfrm>
          <a:prstGeom prst="rect">
            <a:avLst/>
          </a:prstGeom>
          <a:solidFill>
            <a:srgbClr val="EAE3D4"/>
          </a:solidFill>
          <a:ln w="11430">
            <a:solidFill>
              <a:srgbClr val="8A6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770632"/>
            <a:ext cx="5486400" cy="877824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00" b="1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属性 116 看的是 libcuda 内部 bit，不是当场问内核。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770632"/>
            <a:ext cx="5257800" cy="877824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00" b="0">
                <a:solidFill>
                  <a:srgbClr val="5A5044"/>
                </a:solidFill>
                <a:latin typeface="微软雅黑"/>
                <a:ea typeface="微软雅黑"/>
                <a:cs typeface="微软雅黑"/>
              </a:rPr>
              <a:t>进程内拨开 0x20，属性变为 1，dma-buf 导出开始工作。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813048"/>
            <a:ext cx="11201400" cy="1097280"/>
          </a:xfrm>
          <a:prstGeom prst="rect">
            <a:avLst/>
          </a:prstGeom>
          <a:solidFill>
            <a:srgbClr val="EAE3D4"/>
          </a:solidFill>
          <a:ln w="11430">
            <a:solidFill>
              <a:srgbClr val="8A6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922776"/>
            <a:ext cx="5486400" cy="877824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00" b="1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最终：拷一份 libcuda，or $0x40 改为 or $0x60。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3922776"/>
            <a:ext cx="5257800" cy="877824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00" b="0">
                <a:solidFill>
                  <a:srgbClr val="5A5044"/>
                </a:solidFill>
                <a:latin typeface="微软雅黑"/>
                <a:ea typeface="微软雅黑"/>
                <a:cs typeface="微软雅黑"/>
              </a:rPr>
              <a:t>文件偏移随版本变。打开的是 dma-buf / NCCL。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965192"/>
            <a:ext cx="11201400" cy="1097280"/>
          </a:xfrm>
          <a:prstGeom prst="rect">
            <a:avLst/>
          </a:prstGeom>
          <a:solidFill>
            <a:srgbClr val="EAE3D4"/>
          </a:solidFill>
          <a:ln w="11430">
            <a:solidFill>
              <a:srgbClr val="8A6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5074920"/>
            <a:ext cx="5486400" cy="877824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00" b="1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作者写明：这不会让旧 nvidia-peermem 工作。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5074920"/>
            <a:ext cx="5257800" cy="877824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00" b="0">
                <a:solidFill>
                  <a:srgbClr val="5A5044"/>
                </a:solidFill>
                <a:latin typeface="微软雅黑"/>
                <a:ea typeface="微软雅黑"/>
                <a:cs typeface="微软雅黑"/>
              </a:rPr>
              <a:t>旧路径查的是 0x503c 登记，不是这个 bit。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D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73152" cy="256032"/>
          </a:xfrm>
          <a:prstGeom prst="rect">
            <a:avLst/>
          </a:prstGeom>
          <a:solidFill>
            <a:srgbClr val="7A2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"/>
            <a:ext cx="1078992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200" b="1">
                <a:solidFill>
                  <a:srgbClr val="7A241C"/>
                </a:solidFill>
                <a:latin typeface="宋体"/>
                <a:ea typeface="宋体"/>
                <a:cs typeface="宋体"/>
              </a:rPr>
              <a:t>五　借鉴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155680" cy="38404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2200" b="1">
                <a:solidFill>
                  <a:srgbClr val="2A241C"/>
                </a:solidFill>
                <a:latin typeface="宋体"/>
                <a:ea typeface="宋体"/>
                <a:cs typeface="宋体"/>
              </a:rPr>
              <a:t>三条来源，各借一层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32688"/>
            <a:ext cx="1920240" cy="16459"/>
          </a:xfrm>
          <a:prstGeom prst="rect">
            <a:avLst/>
          </a:prstGeom>
          <a:solidFill>
            <a:srgbClr val="8A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565392"/>
            <a:ext cx="11201400" cy="10972"/>
          </a:xfrm>
          <a:prstGeom prst="rect">
            <a:avLst/>
          </a:prstGeom>
          <a:solidFill>
            <a:srgbClr val="8A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601968"/>
            <a:ext cx="7680960" cy="20116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100" b="0">
                <a:solidFill>
                  <a:srgbClr val="5A5044"/>
                </a:solidFill>
                <a:latin typeface="宋体"/>
                <a:ea typeface="宋体"/>
                <a:cs typeface="宋体"/>
              </a:rPr>
              <a:t>五　借鉴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601968"/>
            <a:ext cx="2194560" cy="20116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r">
              <a:lnSpc>
                <a:spcPct val="115000"/>
              </a:lnSpc>
              <a:spcAft>
                <a:spcPts val="100"/>
              </a:spcAft>
            </a:pPr>
            <a:r>
              <a:rPr sz="1100" b="0">
                <a:solidFill>
                  <a:srgbClr val="5A5044"/>
                </a:solidFill>
                <a:latin typeface="微软雅黑"/>
                <a:ea typeface="微软雅黑"/>
                <a:cs typeface="微软雅黑"/>
              </a:rPr>
              <a:t>22  /  33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143000"/>
            <a:ext cx="3703320" cy="3840480"/>
          </a:xfrm>
          <a:prstGeom prst="rect">
            <a:avLst/>
          </a:prstGeom>
          <a:solidFill>
            <a:srgbClr val="EAE3D4"/>
          </a:solidFill>
          <a:ln w="11430">
            <a:solidFill>
              <a:srgbClr val="8A6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325880"/>
            <a:ext cx="3337560" cy="6400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600" b="1">
                <a:solidFill>
                  <a:srgbClr val="7A241C"/>
                </a:solidFill>
                <a:latin typeface="宋体"/>
                <a:ea typeface="宋体"/>
                <a:cs typeface="宋体"/>
              </a:rPr>
              <a:t>Harry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57400"/>
            <a:ext cx="3337560" cy="26517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闸在用户态。不要把内核能力位当成最后一关。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1143000"/>
            <a:ext cx="3703320" cy="3840480"/>
          </a:xfrm>
          <a:prstGeom prst="rect">
            <a:avLst/>
          </a:prstGeom>
          <a:solidFill>
            <a:srgbClr val="EAE3D4"/>
          </a:solidFill>
          <a:ln w="11430">
            <a:solidFill>
              <a:srgbClr val="8A6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325880"/>
            <a:ext cx="3337560" cy="6400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600" b="1">
                <a:solidFill>
                  <a:srgbClr val="7A241C"/>
                </a:solidFill>
                <a:latin typeface="宋体"/>
                <a:ea typeface="宋体"/>
                <a:cs typeface="宋体"/>
              </a:rPr>
              <a:t>remote-lab / mcornea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057400"/>
            <a:ext cx="3337560" cy="26517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ioctl 观察 RM handle，自建 NV503C，REGISTER_VIDMEM。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83880" y="1143000"/>
            <a:ext cx="3703320" cy="3840480"/>
          </a:xfrm>
          <a:prstGeom prst="rect">
            <a:avLst/>
          </a:prstGeom>
          <a:solidFill>
            <a:srgbClr val="EAE3D4"/>
          </a:solidFill>
          <a:ln w="11430">
            <a:solidFill>
              <a:srgbClr val="8A6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325880"/>
            <a:ext cx="3337560" cy="6400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600" b="1">
                <a:solidFill>
                  <a:srgbClr val="7A241C"/>
                </a:solidFill>
                <a:latin typeface="宋体"/>
                <a:ea typeface="宋体"/>
                <a:cs typeface="宋体"/>
              </a:rPr>
              <a:t>本稿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057400"/>
            <a:ext cx="3337560" cy="26517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VMM 替换、dlsym、SYNC_MEMOPS 801、isolate 运行；不改 libcuda 文件。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166360"/>
            <a:ext cx="11155680" cy="10972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00" b="0">
                <a:solidFill>
                  <a:srgbClr val="5A5044"/>
                </a:solidFill>
                <a:latin typeface="微软雅黑"/>
                <a:ea typeface="微软雅黑"/>
                <a:cs typeface="微软雅黑"/>
              </a:rPr>
              <a:t>早期只骗属性 116：GDRCopy 肯 pin，get_pages 仍 0x57。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00" b="0">
                <a:solidFill>
                  <a:srgbClr val="5A5044"/>
                </a:solidFill>
                <a:latin typeface="微软雅黑"/>
                <a:ea typeface="微软雅黑"/>
                <a:cs typeface="微软雅黑"/>
              </a:rPr>
              <a:t>普通 cuMemAlloc 后登记：常常没有 class 0x40 的 hMemory。只 hook ioctl、不 hook dlsym：urma_perftest 绕过 PLT。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D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73152" cy="256032"/>
          </a:xfrm>
          <a:prstGeom prst="rect">
            <a:avLst/>
          </a:prstGeom>
          <a:solidFill>
            <a:srgbClr val="7A2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"/>
            <a:ext cx="1078992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200" b="1">
                <a:solidFill>
                  <a:srgbClr val="7A241C"/>
                </a:solidFill>
                <a:latin typeface="宋体"/>
                <a:ea typeface="宋体"/>
                <a:cs typeface="宋体"/>
              </a:rPr>
              <a:t>六　补登记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155680" cy="38404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2200" b="1">
                <a:solidFill>
                  <a:srgbClr val="2A241C"/>
                </a:solidFill>
                <a:latin typeface="宋体"/>
                <a:ea typeface="宋体"/>
                <a:cs typeface="宋体"/>
              </a:rPr>
              <a:t>用户态补的是手续，不是第二条 DMA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32688"/>
            <a:ext cx="1920240" cy="16459"/>
          </a:xfrm>
          <a:prstGeom prst="rect">
            <a:avLst/>
          </a:prstGeom>
          <a:solidFill>
            <a:srgbClr val="8A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565392"/>
            <a:ext cx="11201400" cy="10972"/>
          </a:xfrm>
          <a:prstGeom prst="rect">
            <a:avLst/>
          </a:prstGeom>
          <a:solidFill>
            <a:srgbClr val="8A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601968"/>
            <a:ext cx="7680960" cy="20116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100" b="0">
                <a:solidFill>
                  <a:srgbClr val="5A5044"/>
                </a:solidFill>
                <a:latin typeface="宋体"/>
                <a:ea typeface="宋体"/>
                <a:cs typeface="宋体"/>
              </a:rPr>
              <a:t>六　补登记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601968"/>
            <a:ext cx="2194560" cy="20116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r">
              <a:lnSpc>
                <a:spcPct val="115000"/>
              </a:lnSpc>
              <a:spcAft>
                <a:spcPts val="100"/>
              </a:spcAft>
            </a:pPr>
            <a:r>
              <a:rPr sz="1100" b="0">
                <a:solidFill>
                  <a:srgbClr val="5A5044"/>
                </a:solidFill>
                <a:latin typeface="微软雅黑"/>
                <a:ea typeface="微软雅黑"/>
                <a:cs typeface="微软雅黑"/>
              </a:rPr>
              <a:t>23  /  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097280"/>
            <a:ext cx="11155680" cy="9144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libgdr_geforce_hook.so 用 LD_PRELOAD 插入进程。不改 libcuda 文件，不改 NVIDIA 内核。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103120"/>
            <a:ext cx="11201400" cy="987552"/>
          </a:xfrm>
          <a:prstGeom prst="rect">
            <a:avLst/>
          </a:prstGeom>
          <a:solidFill>
            <a:srgbClr val="EAE3D4"/>
          </a:solidFill>
          <a:ln w="11430">
            <a:solidFill>
              <a:srgbClr val="8A6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103120"/>
            <a:ext cx="1920240" cy="98755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500" b="1">
                <a:solidFill>
                  <a:srgbClr val="7A241C"/>
                </a:solidFill>
                <a:latin typeface="宋体"/>
                <a:ea typeface="宋体"/>
                <a:cs typeface="宋体"/>
              </a:rPr>
              <a:t>观察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2103120"/>
            <a:ext cx="8778240" cy="98755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拦截 ioctl。仅当请求形如 RM_ALLOC 且 fd 是 NVIDIA RM（major 195）时，在成功之后抄 handle。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127248"/>
            <a:ext cx="11201400" cy="987552"/>
          </a:xfrm>
          <a:prstGeom prst="rect">
            <a:avLst/>
          </a:prstGeom>
          <a:solidFill>
            <a:srgbClr val="EAE3D4"/>
          </a:solidFill>
          <a:ln w="11430">
            <a:solidFill>
              <a:srgbClr val="8A6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127248"/>
            <a:ext cx="1920240" cy="98755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500" b="1">
                <a:solidFill>
                  <a:srgbClr val="7A241C"/>
                </a:solidFill>
                <a:latin typeface="宋体"/>
                <a:ea typeface="宋体"/>
                <a:cs typeface="宋体"/>
              </a:rPr>
              <a:t>改分配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80" y="3127248"/>
            <a:ext cx="8778240" cy="98755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cuMemAlloc 改为 VMM（Create / Map）。RM 会 Alloc class 0x40，才能登记。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151376"/>
            <a:ext cx="11201400" cy="987552"/>
          </a:xfrm>
          <a:prstGeom prst="rect">
            <a:avLst/>
          </a:prstGeom>
          <a:solidFill>
            <a:srgbClr val="EAE3D4"/>
          </a:solidFill>
          <a:ln w="11430">
            <a:solidFill>
              <a:srgbClr val="8A6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151376"/>
            <a:ext cx="1920240" cy="98755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500" b="1">
                <a:solidFill>
                  <a:srgbClr val="7A241C"/>
                </a:solidFill>
                <a:latin typeface="宋体"/>
                <a:ea typeface="宋体"/>
                <a:cs typeface="宋体"/>
              </a:rPr>
              <a:t>补写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4151376"/>
            <a:ext cx="8778240" cy="98755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Alloc 0x503c，REGISTER_VA_SPACE，REGISTER_VIDMEM。自己发的 ioctl 走 libc 真函数，避免递归。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5175504"/>
            <a:ext cx="11201400" cy="987552"/>
          </a:xfrm>
          <a:prstGeom prst="rect">
            <a:avLst/>
          </a:prstGeom>
          <a:solidFill>
            <a:srgbClr val="EAE3D4"/>
          </a:solidFill>
          <a:ln w="11430">
            <a:solidFill>
              <a:srgbClr val="8A6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5175504"/>
            <a:ext cx="1920240" cy="98755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500" b="1">
                <a:solidFill>
                  <a:srgbClr val="7A241C"/>
                </a:solidFill>
                <a:latin typeface="宋体"/>
                <a:ea typeface="宋体"/>
                <a:cs typeface="宋体"/>
              </a:rPr>
              <a:t>两扇小门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5175504"/>
            <a:ext cx="8778240" cy="98755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属性 116/110 返回 1，使 GDRCopy 通过能力检查；VMM 上 SYNC_MEMOPS 的 801 按成功返回。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D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73152" cy="256032"/>
          </a:xfrm>
          <a:prstGeom prst="rect">
            <a:avLst/>
          </a:prstGeom>
          <a:solidFill>
            <a:srgbClr val="7A2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"/>
            <a:ext cx="1078992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200" b="1">
                <a:solidFill>
                  <a:srgbClr val="7A241C"/>
                </a:solidFill>
                <a:latin typeface="宋体"/>
                <a:ea typeface="宋体"/>
                <a:cs typeface="宋体"/>
              </a:rPr>
              <a:t>六　补登记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155680" cy="38404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2200" b="1">
                <a:solidFill>
                  <a:srgbClr val="2A241C"/>
                </a:solidFill>
                <a:latin typeface="宋体"/>
                <a:ea typeface="宋体"/>
                <a:cs typeface="宋体"/>
              </a:rPr>
              <a:t>符号拦截，以及 dlopen 那一条岔路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32688"/>
            <a:ext cx="1920240" cy="16459"/>
          </a:xfrm>
          <a:prstGeom prst="rect">
            <a:avLst/>
          </a:prstGeom>
          <a:solidFill>
            <a:srgbClr val="8A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565392"/>
            <a:ext cx="11201400" cy="10972"/>
          </a:xfrm>
          <a:prstGeom prst="rect">
            <a:avLst/>
          </a:prstGeom>
          <a:solidFill>
            <a:srgbClr val="8A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601968"/>
            <a:ext cx="7680960" cy="20116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100" b="0">
                <a:solidFill>
                  <a:srgbClr val="5A5044"/>
                </a:solidFill>
                <a:latin typeface="宋体"/>
                <a:ea typeface="宋体"/>
                <a:cs typeface="宋体"/>
              </a:rPr>
              <a:t>六　补登记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601968"/>
            <a:ext cx="2194560" cy="20116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r">
              <a:lnSpc>
                <a:spcPct val="115000"/>
              </a:lnSpc>
              <a:spcAft>
                <a:spcPts val="100"/>
              </a:spcAft>
            </a:pPr>
            <a:r>
              <a:rPr sz="1100" b="0">
                <a:solidFill>
                  <a:srgbClr val="5A5044"/>
                </a:solidFill>
                <a:latin typeface="微软雅黑"/>
                <a:ea typeface="微软雅黑"/>
                <a:cs typeface="微软雅黑"/>
              </a:rPr>
              <a:t>24  /  33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115568"/>
            <a:ext cx="11201400" cy="2194560"/>
          </a:xfrm>
          <a:prstGeom prst="rect">
            <a:avLst/>
          </a:prstGeom>
          <a:solidFill>
            <a:srgbClr val="EAE3D4"/>
          </a:solidFill>
          <a:ln w="11430">
            <a:solidFill>
              <a:srgbClr val="8A6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280160"/>
            <a:ext cx="10789920" cy="1874519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动态链接器先加载本 .so。导出与 libc / libcuda 同名的 ioctl、cuMemAlloc_v2 等，调用先进入本文件。</a:t>
            </a:r>
          </a:p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真实现用 dlsym(RTLD_NEXT, ...) 取得。不得再调用自己导出的同名函数。</a:t>
            </a:r>
          </a:p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静态链接或直接 syscall(SYS_ioctl) 则套不住。575 上的 GDRCopy 走动态符号。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474720"/>
            <a:ext cx="11201400" cy="2697480"/>
          </a:xfrm>
          <a:prstGeom prst="rect">
            <a:avLst/>
          </a:prstGeom>
          <a:solidFill>
            <a:srgbClr val="DFD6C6"/>
          </a:solidFill>
          <a:ln w="11430">
            <a:solidFill>
              <a:srgbClr val="8A6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657600"/>
            <a:ext cx="10789920" cy="23317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urma_perftest 自己 dlopen(libcuda) 再 dlsym(handle, "cuMemAlloc_v2")，不经 PLT。</a:t>
            </a:r>
          </a:p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故本文件也拦截 dlsym：当 name 是我们劫持的符号且 handle 不是 RTLD_NEXT 时，把钩子指针还回去。</a:t>
            </a:r>
          </a:p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内部查真符号一律走 real_dlsym / dlvsym。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D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73152" cy="256032"/>
          </a:xfrm>
          <a:prstGeom prst="rect">
            <a:avLst/>
          </a:prstGeom>
          <a:solidFill>
            <a:srgbClr val="7A2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"/>
            <a:ext cx="1078992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200" b="1">
                <a:solidFill>
                  <a:srgbClr val="7A241C"/>
                </a:solidFill>
                <a:latin typeface="宋体"/>
                <a:ea typeface="宋体"/>
                <a:cs typeface="宋体"/>
              </a:rPr>
              <a:t>六　补登记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155680" cy="38404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2200" b="1">
                <a:solidFill>
                  <a:srgbClr val="2A241C"/>
                </a:solidFill>
                <a:latin typeface="宋体"/>
                <a:ea typeface="宋体"/>
                <a:cs typeface="宋体"/>
              </a:rPr>
              <a:t>ioctl：先完成，再抄房间号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32688"/>
            <a:ext cx="1920240" cy="16459"/>
          </a:xfrm>
          <a:prstGeom prst="rect">
            <a:avLst/>
          </a:prstGeom>
          <a:solidFill>
            <a:srgbClr val="8A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565392"/>
            <a:ext cx="11201400" cy="10972"/>
          </a:xfrm>
          <a:prstGeom prst="rect">
            <a:avLst/>
          </a:prstGeom>
          <a:solidFill>
            <a:srgbClr val="8A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601968"/>
            <a:ext cx="7680960" cy="20116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100" b="0">
                <a:solidFill>
                  <a:srgbClr val="5A5044"/>
                </a:solidFill>
                <a:latin typeface="宋体"/>
                <a:ea typeface="宋体"/>
                <a:cs typeface="宋体"/>
              </a:rPr>
              <a:t>六　补登记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601968"/>
            <a:ext cx="2194560" cy="20116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r">
              <a:lnSpc>
                <a:spcPct val="115000"/>
              </a:lnSpc>
              <a:spcAft>
                <a:spcPts val="100"/>
              </a:spcAft>
            </a:pPr>
            <a:r>
              <a:rPr sz="1100" b="0">
                <a:solidFill>
                  <a:srgbClr val="5A5044"/>
                </a:solidFill>
                <a:latin typeface="微软雅黑"/>
                <a:ea typeface="微软雅黑"/>
                <a:cs typeface="微软雅黑"/>
              </a:rPr>
              <a:t>25  /  33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201400" cy="3246120"/>
          </a:xfrm>
          <a:prstGeom prst="rect">
            <a:avLst/>
          </a:prstGeom>
          <a:solidFill>
            <a:srgbClr val="2A241C"/>
          </a:solidFill>
          <a:ln w="11430">
            <a:solidFill>
              <a:srgbClr val="8A6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234440"/>
            <a:ext cx="10789920" cy="29718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00" b="0">
                <a:solidFill>
                  <a:srgbClr val="F0EADC"/>
                </a:solidFill>
                <a:latin typeface="Consolas"/>
                <a:ea typeface="微软雅黑"/>
                <a:cs typeface="Consolas"/>
              </a:rPr>
              <a:t>int ioctl(int fd, unsigned long request, ...)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300" b="0">
                <a:solidFill>
                  <a:srgbClr val="F0EADC"/>
                </a:solidFill>
                <a:latin typeface="Consolas"/>
                <a:ea typeface="微软雅黑"/>
                <a:cs typeface="Consolas"/>
              </a:rPr>
              <a:t>    if (!is_rm_alloc_ioctl(request))          // magic 'F', nr 0x2B/0x28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300" b="0">
                <a:solidFill>
                  <a:srgbClr val="F0EADC"/>
                </a:solidFill>
                <a:latin typeface="Consolas"/>
                <a:ea typeface="微软雅黑"/>
                <a:cs typeface="Consolas"/>
              </a:rPr>
              <a:t>        return real_ioctl(...);               // 立即转发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300" b="0">
                <a:solidFill>
                  <a:srgbClr val="F0EADC"/>
                </a:solidFill>
                <a:latin typeface="Consolas"/>
                <a:ea typeface="微软雅黑"/>
                <a:cs typeface="Consolas"/>
              </a:rPr>
              <a:t>    ret = real_ioctl(...);                    // 先做真事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300" b="0">
                <a:solidFill>
                  <a:srgbClr val="F0EADC"/>
                </a:solidFill>
                <a:latin typeface="Consolas"/>
                <a:ea typeface="微软雅黑"/>
                <a:cs typeface="Consolas"/>
              </a:rPr>
              <a:t>    if (ret == 0 &amp;&amp; is_nvidia_rm_fd(fd))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300" b="0">
                <a:solidFill>
                  <a:srgbClr val="F0EADC"/>
                </a:solidFill>
                <a:latin typeface="Consolas"/>
                <a:ea typeface="微软雅黑"/>
                <a:cs typeface="Consolas"/>
              </a:rPr>
              <a:t>        after_rm_alloc(...);                  // 成功后再记账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300" b="0">
                <a:solidFill>
                  <a:srgbClr val="F0EADC"/>
                </a:solidFill>
                <a:latin typeface="Consolas"/>
                <a:ea typeface="微软雅黑"/>
                <a:cs typeface="Consolas"/>
              </a:rPr>
              <a:t>    return ret;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526280"/>
            <a:ext cx="11155680" cy="16916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不改工单内容。CUDA 仍以为自己在与内核说话。</a:t>
            </a:r>
          </a:p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非 NVIDIA 的 fd（socket、tty、framebuffer 虽也可能用 'F'）不拆包。</a:t>
            </a:r>
          </a:p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class 是房间类型（0x80 设备、0x2080 子设备、0x90f1 VA space、0x40 显存）；handle 每次运行不同。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D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73152" cy="256032"/>
          </a:xfrm>
          <a:prstGeom prst="rect">
            <a:avLst/>
          </a:prstGeom>
          <a:solidFill>
            <a:srgbClr val="7A2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"/>
            <a:ext cx="1078992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200" b="1">
                <a:solidFill>
                  <a:srgbClr val="7A241C"/>
                </a:solidFill>
                <a:latin typeface="宋体"/>
                <a:ea typeface="宋体"/>
                <a:cs typeface="宋体"/>
              </a:rPr>
              <a:t>六　补登记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155680" cy="38404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2200" b="1">
                <a:solidFill>
                  <a:srgbClr val="2A241C"/>
                </a:solidFill>
                <a:latin typeface="宋体"/>
                <a:ea typeface="宋体"/>
                <a:cs typeface="宋体"/>
              </a:rPr>
              <a:t>分配改走 VMM，为的是 class 0x40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32688"/>
            <a:ext cx="1920240" cy="16459"/>
          </a:xfrm>
          <a:prstGeom prst="rect">
            <a:avLst/>
          </a:prstGeom>
          <a:solidFill>
            <a:srgbClr val="8A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565392"/>
            <a:ext cx="11201400" cy="10972"/>
          </a:xfrm>
          <a:prstGeom prst="rect">
            <a:avLst/>
          </a:prstGeom>
          <a:solidFill>
            <a:srgbClr val="8A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601968"/>
            <a:ext cx="7680960" cy="20116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100" b="0">
                <a:solidFill>
                  <a:srgbClr val="5A5044"/>
                </a:solidFill>
                <a:latin typeface="宋体"/>
                <a:ea typeface="宋体"/>
                <a:cs typeface="宋体"/>
              </a:rPr>
              <a:t>六　补登记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601968"/>
            <a:ext cx="2194560" cy="20116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r">
              <a:lnSpc>
                <a:spcPct val="115000"/>
              </a:lnSpc>
              <a:spcAft>
                <a:spcPts val="100"/>
              </a:spcAft>
            </a:pPr>
            <a:r>
              <a:rPr sz="1100" b="0">
                <a:solidFill>
                  <a:srgbClr val="5A5044"/>
                </a:solidFill>
                <a:latin typeface="微软雅黑"/>
                <a:ea typeface="微软雅黑"/>
                <a:cs typeface="微软雅黑"/>
              </a:rPr>
              <a:t>26  /  33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143000"/>
            <a:ext cx="2788920" cy="2606040"/>
          </a:xfrm>
          <a:prstGeom prst="rect">
            <a:avLst/>
          </a:prstGeom>
          <a:solidFill>
            <a:srgbClr val="EAE3D4"/>
          </a:solidFill>
          <a:ln w="11430">
            <a:solidFill>
              <a:srgbClr val="8A6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325880"/>
            <a:ext cx="2514600" cy="4114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600" b="1">
                <a:solidFill>
                  <a:srgbClr val="7A241C"/>
                </a:solidFill>
                <a:latin typeface="宋体"/>
                <a:ea typeface="宋体"/>
                <a:cs typeface="宋体"/>
              </a:rPr>
              <a:t>1  Reserve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920240"/>
            <a:ext cx="2514600" cy="1600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4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cuMemAddressReserve，64K 对齐的 GPU VA。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29000" y="1143000"/>
            <a:ext cx="2788920" cy="2606040"/>
          </a:xfrm>
          <a:prstGeom prst="rect">
            <a:avLst/>
          </a:prstGeom>
          <a:solidFill>
            <a:srgbClr val="EAE3D4"/>
          </a:solidFill>
          <a:ln w="11430">
            <a:solidFill>
              <a:srgbClr val="8A6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1325880"/>
            <a:ext cx="2514600" cy="4114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600" b="1">
                <a:solidFill>
                  <a:srgbClr val="7A241C"/>
                </a:solidFill>
                <a:latin typeface="宋体"/>
                <a:ea typeface="宋体"/>
                <a:cs typeface="宋体"/>
              </a:rPr>
              <a:t>2  Create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1920240"/>
            <a:ext cx="2514600" cy="1600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4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cuMemCreate。打开 capturing_memory，ioctl 钩子记下 hMemory。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5080" y="1143000"/>
            <a:ext cx="2788920" cy="2606040"/>
          </a:xfrm>
          <a:prstGeom prst="rect">
            <a:avLst/>
          </a:prstGeom>
          <a:solidFill>
            <a:srgbClr val="EAE3D4"/>
          </a:solidFill>
          <a:ln w="11430">
            <a:solidFill>
              <a:srgbClr val="8A6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325880"/>
            <a:ext cx="2514600" cy="4114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600" b="1">
                <a:solidFill>
                  <a:srgbClr val="7A241C"/>
                </a:solidFill>
                <a:latin typeface="宋体"/>
                <a:ea typeface="宋体"/>
                <a:cs typeface="宋体"/>
              </a:rPr>
              <a:t>3  Map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920240"/>
            <a:ext cx="2514600" cy="1600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4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cuMemMap + SetAccess。门牌与档案对应。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81160" y="1143000"/>
            <a:ext cx="2788920" cy="2606040"/>
          </a:xfrm>
          <a:prstGeom prst="rect">
            <a:avLst/>
          </a:prstGeom>
          <a:solidFill>
            <a:srgbClr val="EAE3D4"/>
          </a:solidFill>
          <a:ln w="11430">
            <a:solidFill>
              <a:srgbClr val="8A6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0" y="1325880"/>
            <a:ext cx="2514600" cy="4114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600" b="1">
                <a:solidFill>
                  <a:srgbClr val="7A241C"/>
                </a:solidFill>
                <a:latin typeface="宋体"/>
                <a:ea typeface="宋体"/>
                <a:cs typeface="宋体"/>
              </a:rPr>
              <a:t>4  Register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1920240"/>
            <a:ext cx="2514600" cy="1600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4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把 (hMemory, VA, size) 写入 0x503c。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977639"/>
            <a:ext cx="11155680" cy="22402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gpuDirectRDMACapable=1 在 GeForce 上常使 cuMemCreate 返回 101。去掉该旗再试，物理页仍能建，登记不受阻。</a:t>
            </a:r>
          </a:p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该旗表示「申报这段内存适合 GDR」，不是「无此旗便不能写入 0x503c」。</a:t>
            </a:r>
          </a:p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GDRCopy 若自己走 VMM，cuMemCreate / cuMemMap 的钩子同样登记。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D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73152" cy="256032"/>
          </a:xfrm>
          <a:prstGeom prst="rect">
            <a:avLst/>
          </a:prstGeom>
          <a:solidFill>
            <a:srgbClr val="7A2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"/>
            <a:ext cx="1078992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200" b="1">
                <a:solidFill>
                  <a:srgbClr val="7A241C"/>
                </a:solidFill>
                <a:latin typeface="宋体"/>
                <a:ea typeface="宋体"/>
                <a:cs typeface="宋体"/>
              </a:rPr>
              <a:t>六　补登记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155680" cy="38404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2200" b="1">
                <a:solidFill>
                  <a:srgbClr val="2A241C"/>
                </a:solidFill>
                <a:latin typeface="宋体"/>
                <a:ea typeface="宋体"/>
                <a:cs typeface="宋体"/>
              </a:rPr>
              <a:t>能力检查与 SYNC_MEMOPS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32688"/>
            <a:ext cx="1920240" cy="16459"/>
          </a:xfrm>
          <a:prstGeom prst="rect">
            <a:avLst/>
          </a:prstGeom>
          <a:solidFill>
            <a:srgbClr val="8A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565392"/>
            <a:ext cx="11201400" cy="10972"/>
          </a:xfrm>
          <a:prstGeom prst="rect">
            <a:avLst/>
          </a:prstGeom>
          <a:solidFill>
            <a:srgbClr val="8A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601968"/>
            <a:ext cx="7680960" cy="20116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100" b="0">
                <a:solidFill>
                  <a:srgbClr val="5A5044"/>
                </a:solidFill>
                <a:latin typeface="宋体"/>
                <a:ea typeface="宋体"/>
                <a:cs typeface="宋体"/>
              </a:rPr>
              <a:t>六　补登记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601968"/>
            <a:ext cx="2194560" cy="20116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r">
              <a:lnSpc>
                <a:spcPct val="115000"/>
              </a:lnSpc>
              <a:spcAft>
                <a:spcPts val="100"/>
              </a:spcAft>
            </a:pPr>
            <a:r>
              <a:rPr sz="1100" b="0">
                <a:solidFill>
                  <a:srgbClr val="5A5044"/>
                </a:solidFill>
                <a:latin typeface="微软雅黑"/>
                <a:ea typeface="微软雅黑"/>
                <a:cs typeface="微软雅黑"/>
              </a:rPr>
              <a:t>27  /  33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115568"/>
            <a:ext cx="5486400" cy="5074920"/>
          </a:xfrm>
          <a:prstGeom prst="rect">
            <a:avLst/>
          </a:prstGeom>
          <a:solidFill>
            <a:srgbClr val="EAE3D4"/>
          </a:solidFill>
          <a:ln w="11430">
            <a:solidFill>
              <a:srgbClr val="8A6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298448"/>
            <a:ext cx="5074920" cy="3657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600" b="1">
                <a:solidFill>
                  <a:srgbClr val="7A241C"/>
                </a:solidFill>
                <a:latin typeface="宋体"/>
                <a:ea typeface="宋体"/>
                <a:cs typeface="宋体"/>
              </a:rPr>
              <a:t>属性 116 / 110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828800"/>
            <a:ext cx="5074920" cy="40233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GDRCopy 的 check_gdr_support() 读它们。</a:t>
            </a:r>
          </a:p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Harry 拨 libcuda 里的 bit；本稿挟持</a:t>
            </a:r>
          </a:p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cuDeviceGetAttribute，把返回值写成 1。</a:t>
            </a:r>
          </a:p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只做这一步，get_pages 仍是 0x57。</a:t>
            </a:r>
          </a:p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它只让应用肯进入 pin。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115568"/>
            <a:ext cx="5532120" cy="5074920"/>
          </a:xfrm>
          <a:prstGeom prst="rect">
            <a:avLst/>
          </a:prstGeom>
          <a:solidFill>
            <a:srgbClr val="DFD6C6"/>
          </a:solidFill>
          <a:ln w="11430">
            <a:solidFill>
              <a:srgbClr val="8A6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298448"/>
            <a:ext cx="5120640" cy="3657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600" b="1">
                <a:solidFill>
                  <a:srgbClr val="7A241C"/>
                </a:solidFill>
                <a:latin typeface="宋体"/>
                <a:ea typeface="宋体"/>
                <a:cs typeface="宋体"/>
              </a:rPr>
              <a:t>SYNC_MEMOPS 801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828800"/>
            <a:ext cx="5120640" cy="40233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pin 前 GDRCopy 会</a:t>
            </a:r>
          </a:p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cuPointerSetAttribute(SYNC_MEMOPS)。</a:t>
            </a:r>
          </a:p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4090 上对 VMM 指针常返回 801。</a:t>
            </a:r>
          </a:p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库把它当作致命错误。</a:t>
            </a:r>
          </a:p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若 VA 由本 hook 分配，返回 SUCCESS。</a:t>
            </a:r>
          </a:p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登记成功却死在 copylat，多半是这里。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D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73152" cy="256032"/>
          </a:xfrm>
          <a:prstGeom prst="rect">
            <a:avLst/>
          </a:prstGeom>
          <a:solidFill>
            <a:srgbClr val="7A2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"/>
            <a:ext cx="1078992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200" b="1">
                <a:solidFill>
                  <a:srgbClr val="7A241C"/>
                </a:solidFill>
                <a:latin typeface="宋体"/>
                <a:ea typeface="宋体"/>
                <a:cs typeface="宋体"/>
              </a:rPr>
              <a:t>七　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155680" cy="38404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2200" b="1">
                <a:solidFill>
                  <a:srgbClr val="2A241C"/>
                </a:solidFill>
                <a:latin typeface="宋体"/>
                <a:ea typeface="宋体"/>
                <a:cs typeface="宋体"/>
              </a:rPr>
              <a:t>成功时日志的顺序，即本场的顺序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32688"/>
            <a:ext cx="1920240" cy="16459"/>
          </a:xfrm>
          <a:prstGeom prst="rect">
            <a:avLst/>
          </a:prstGeom>
          <a:solidFill>
            <a:srgbClr val="8A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565392"/>
            <a:ext cx="11201400" cy="10972"/>
          </a:xfrm>
          <a:prstGeom prst="rect">
            <a:avLst/>
          </a:prstGeom>
          <a:solidFill>
            <a:srgbClr val="8A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601968"/>
            <a:ext cx="7680960" cy="20116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100" b="0">
                <a:solidFill>
                  <a:srgbClr val="5A5044"/>
                </a:solidFill>
                <a:latin typeface="宋体"/>
                <a:ea typeface="宋体"/>
                <a:cs typeface="宋体"/>
              </a:rPr>
              <a:t>七　验证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601968"/>
            <a:ext cx="2194560" cy="20116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r">
              <a:lnSpc>
                <a:spcPct val="115000"/>
              </a:lnSpc>
              <a:spcAft>
                <a:spcPts val="100"/>
              </a:spcAft>
            </a:pPr>
            <a:r>
              <a:rPr sz="1100" b="0">
                <a:solidFill>
                  <a:srgbClr val="5A5044"/>
                </a:solidFill>
                <a:latin typeface="微软雅黑"/>
                <a:ea typeface="微软雅黑"/>
                <a:cs typeface="微软雅黑"/>
              </a:rPr>
              <a:t>28  /  33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201400" cy="4160520"/>
          </a:xfrm>
          <a:prstGeom prst="rect">
            <a:avLst/>
          </a:prstGeom>
          <a:solidFill>
            <a:srgbClr val="2A241C"/>
          </a:solidFill>
          <a:ln w="11430">
            <a:solidFill>
              <a:srgbClr val="8A6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261872"/>
            <a:ext cx="10789920" cy="38404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300" b="0">
                <a:solidFill>
                  <a:srgbClr val="F0EADC"/>
                </a:solidFill>
                <a:latin typeface="Consolas"/>
                <a:ea typeface="微软雅黑"/>
                <a:cs typeface="Consolas"/>
              </a:rPr>
              <a:t>[gdr-geforce] ready GPU 0 client=... device=... subdev=... va=...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300" b="0">
                <a:solidFill>
                  <a:srgbClr val="B8AE9A"/>
                </a:solidFill>
                <a:latin typeface="Consolas"/>
                <a:ea typeface="微软雅黑"/>
                <a:cs typeface="Consolas"/>
              </a:rPr>
              <a:t>[gdr-geforce] cuMemCreate RDMA-capable failed (101), retry without flag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300" b="0">
                <a:solidFill>
                  <a:srgbClr val="F0EADC"/>
                </a:solidFill>
                <a:latin typeface="Consolas"/>
                <a:ea typeface="微软雅黑"/>
                <a:cs typeface="Consolas"/>
              </a:rPr>
              <a:t>[gdr-geforce] captured hMemory=0x... class=0x40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300" b="0">
                <a:solidFill>
                  <a:srgbClr val="F0EADC"/>
                </a:solidFill>
                <a:latin typeface="Consolas"/>
                <a:ea typeface="微软雅黑"/>
                <a:cs typeface="Consolas"/>
              </a:rPr>
              <a:t>[gdr-geforce] allocated NV50_THIRD_PARTY_P2P hTPP=...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300" b="0">
                <a:solidFill>
                  <a:srgbClr val="F0EADC"/>
                </a:solidFill>
                <a:latin typeface="Consolas"/>
                <a:ea typeface="微软雅黑"/>
                <a:cs typeface="Consolas"/>
              </a:rPr>
              <a:t>[gdr-geforce] REGISTER_VA_SPACE ... status=0x0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300" b="0">
                <a:solidFill>
                  <a:srgbClr val="F0EADC"/>
                </a:solidFill>
                <a:latin typeface="Consolas"/>
                <a:ea typeface="微软雅黑"/>
                <a:cs typeface="Consolas"/>
              </a:rPr>
              <a:t>[gdr-geforce] REGISTER_VIDMEM  ... status=0x0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300" b="0">
                <a:solidFill>
                  <a:srgbClr val="F0EADC"/>
                </a:solidFill>
                <a:latin typeface="Consolas"/>
                <a:ea typeface="微软雅黑"/>
                <a:cs typeface="Consolas"/>
              </a:rPr>
              <a:t>[gdr-geforce] cuMemAlloc -&gt; VMM va=0x...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300" b="0">
                <a:solidFill>
                  <a:srgbClr val="B8AE9A"/>
                </a:solidFill>
                <a:latin typeface="Consolas"/>
                <a:ea typeface="微软雅黑"/>
                <a:cs typeface="Consolas"/>
              </a:rPr>
              <a:t># 此后 gdr_pin_buffer 不得为 -22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440680"/>
            <a:ext cx="11155680" cy="8229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00" b="0">
                <a:solidFill>
                  <a:srgbClr val="5A5044"/>
                </a:solidFill>
                <a:latin typeface="微软雅黑"/>
                <a:ea typeface="微软雅黑"/>
                <a:cs typeface="微软雅黑"/>
              </a:rPr>
              <a:t>101 那一行不是失败。handle 与 VA 每次运行不同，不要写进代码。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D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73152" cy="256032"/>
          </a:xfrm>
          <a:prstGeom prst="rect">
            <a:avLst/>
          </a:prstGeom>
          <a:solidFill>
            <a:srgbClr val="7A2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"/>
            <a:ext cx="1078992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200" b="1">
                <a:solidFill>
                  <a:srgbClr val="7A241C"/>
                </a:solidFill>
                <a:latin typeface="宋体"/>
                <a:ea typeface="宋体"/>
                <a:cs typeface="宋体"/>
              </a:rPr>
              <a:t>七　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155680" cy="38404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2200" b="1">
                <a:solidFill>
                  <a:srgbClr val="2A241C"/>
                </a:solidFill>
                <a:latin typeface="宋体"/>
                <a:ea typeface="宋体"/>
                <a:cs typeface="宋体"/>
              </a:rPr>
              <a:t>两条工作对照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32688"/>
            <a:ext cx="1920240" cy="16459"/>
          </a:xfrm>
          <a:prstGeom prst="rect">
            <a:avLst/>
          </a:prstGeom>
          <a:solidFill>
            <a:srgbClr val="8A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565392"/>
            <a:ext cx="11201400" cy="10972"/>
          </a:xfrm>
          <a:prstGeom prst="rect">
            <a:avLst/>
          </a:prstGeom>
          <a:solidFill>
            <a:srgbClr val="8A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601968"/>
            <a:ext cx="7680960" cy="20116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100" b="0">
                <a:solidFill>
                  <a:srgbClr val="5A5044"/>
                </a:solidFill>
                <a:latin typeface="宋体"/>
                <a:ea typeface="宋体"/>
                <a:cs typeface="宋体"/>
              </a:rPr>
              <a:t>七　验证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601968"/>
            <a:ext cx="2194560" cy="20116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r">
              <a:lnSpc>
                <a:spcPct val="115000"/>
              </a:lnSpc>
              <a:spcAft>
                <a:spcPts val="100"/>
              </a:spcAft>
            </a:pPr>
            <a:r>
              <a:rPr sz="1100" b="0">
                <a:solidFill>
                  <a:srgbClr val="5A5044"/>
                </a:solidFill>
                <a:latin typeface="微软雅黑"/>
                <a:ea typeface="微软雅黑"/>
                <a:cs typeface="微软雅黑"/>
              </a:rPr>
              <a:t>29  /  33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201400" cy="457200"/>
          </a:xfrm>
          <a:prstGeom prst="rect">
            <a:avLst/>
          </a:prstGeom>
          <a:solidFill>
            <a:srgbClr val="DFD6C6"/>
          </a:solidFill>
          <a:ln w="10160">
            <a:solidFill>
              <a:srgbClr val="8A6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097280"/>
            <a:ext cx="2377440" cy="4572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300" b="1">
                <a:solidFill>
                  <a:srgbClr val="7A241C"/>
                </a:solidFill>
                <a:latin typeface="宋体"/>
                <a:ea typeface="宋体"/>
                <a:cs typeface="宋体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1097280"/>
            <a:ext cx="4480560" cy="4572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300" b="1">
                <a:solidFill>
                  <a:srgbClr val="7A241C"/>
                </a:solidFill>
                <a:latin typeface="宋体"/>
                <a:ea typeface="宋体"/>
                <a:cs typeface="宋体"/>
              </a:rPr>
              <a:t>Harry · 5090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1097280"/>
            <a:ext cx="4343400" cy="4572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300" b="1">
                <a:solidFill>
                  <a:srgbClr val="7A241C"/>
                </a:solidFill>
                <a:latin typeface="宋体"/>
                <a:ea typeface="宋体"/>
                <a:cs typeface="宋体"/>
              </a:rPr>
              <a:t>本稿 · 4090 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554480"/>
            <a:ext cx="11201400" cy="868680"/>
          </a:xfrm>
          <a:prstGeom prst="rect">
            <a:avLst/>
          </a:prstGeom>
          <a:solidFill>
            <a:srgbClr val="EAE3D4"/>
          </a:solidFill>
          <a:ln w="6985">
            <a:solidFill>
              <a:srgbClr val="8A6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1554480"/>
            <a:ext cx="2377440" cy="8686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00" b="1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1554480"/>
            <a:ext cx="4480560" cy="8686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NCCL + dma-buf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1554480"/>
            <a:ext cx="4343400" cy="8686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GDRCopy / peermem / get_pages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423160"/>
            <a:ext cx="11201400" cy="868680"/>
          </a:xfrm>
          <a:prstGeom prst="rect">
            <a:avLst/>
          </a:prstGeom>
          <a:solidFill>
            <a:srgbClr val="F7F2E8"/>
          </a:solidFill>
          <a:ln w="6985">
            <a:solidFill>
              <a:srgbClr val="8A6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423160"/>
            <a:ext cx="2377440" cy="8686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00" b="1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内核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360" y="2423160"/>
            <a:ext cx="4480560" cy="8686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试过改 dma-buf 能力，非闸门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20" y="2423160"/>
            <a:ext cx="4343400" cy="8686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只保留 BAR1 P2P flag 与大 BAR1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291839"/>
            <a:ext cx="11201400" cy="868680"/>
          </a:xfrm>
          <a:prstGeom prst="rect">
            <a:avLst/>
          </a:prstGeom>
          <a:solidFill>
            <a:srgbClr val="EAE3D4"/>
          </a:solidFill>
          <a:ln w="6985">
            <a:solidFill>
              <a:srgbClr val="8A6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291839"/>
            <a:ext cx="2377440" cy="8686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00" b="1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用户态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80360" y="3291839"/>
            <a:ext cx="4480560" cy="8686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改 libcuda 一字节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3291839"/>
            <a:ext cx="4343400" cy="8686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LD_PRELOAD .so，不改文件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160520"/>
            <a:ext cx="11201400" cy="868680"/>
          </a:xfrm>
          <a:prstGeom prst="rect">
            <a:avLst/>
          </a:prstGeom>
          <a:solidFill>
            <a:srgbClr val="F7F2E8"/>
          </a:solidFill>
          <a:ln w="6985">
            <a:solidFill>
              <a:srgbClr val="8A6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160520"/>
            <a:ext cx="2377440" cy="8686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00" b="1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打开的层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80360" y="4160520"/>
            <a:ext cx="4480560" cy="8686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能力 bit / dma-buf 导出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60920" y="4160520"/>
            <a:ext cx="4343400" cy="8686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attr 116 + 0x503c 登记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5029200"/>
            <a:ext cx="11201400" cy="868680"/>
          </a:xfrm>
          <a:prstGeom prst="rect">
            <a:avLst/>
          </a:prstGeom>
          <a:solidFill>
            <a:srgbClr val="EAE3D4"/>
          </a:solidFill>
          <a:ln w="6985">
            <a:solidFill>
              <a:srgbClr val="8A6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5029200"/>
            <a:ext cx="2377440" cy="8686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00" b="1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加载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80360" y="5029200"/>
            <a:ext cx="4480560" cy="8686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LD_LIBRARY_PATH 指向拷贝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60920" y="5029200"/>
            <a:ext cx="4343400" cy="8686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isolate/run.sh，禁止全局 preload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D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73152" cy="256032"/>
          </a:xfrm>
          <a:prstGeom prst="rect">
            <a:avLst/>
          </a:prstGeom>
          <a:solidFill>
            <a:srgbClr val="7A2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"/>
            <a:ext cx="1078992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200" b="1">
                <a:solidFill>
                  <a:srgbClr val="7A241C"/>
                </a:solidFill>
                <a:latin typeface="宋体"/>
                <a:ea typeface="宋体"/>
                <a:cs typeface="宋体"/>
              </a:rPr>
              <a:t>七　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155680" cy="38404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2200" b="1">
                <a:solidFill>
                  <a:srgbClr val="2A241C"/>
                </a:solidFill>
                <a:latin typeface="宋体"/>
                <a:ea typeface="宋体"/>
                <a:cs typeface="宋体"/>
              </a:rPr>
              <a:t>运行范围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32688"/>
            <a:ext cx="1920240" cy="16459"/>
          </a:xfrm>
          <a:prstGeom prst="rect">
            <a:avLst/>
          </a:prstGeom>
          <a:solidFill>
            <a:srgbClr val="8A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565392"/>
            <a:ext cx="11201400" cy="10972"/>
          </a:xfrm>
          <a:prstGeom prst="rect">
            <a:avLst/>
          </a:prstGeom>
          <a:solidFill>
            <a:srgbClr val="8A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601968"/>
            <a:ext cx="7680960" cy="20116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100" b="0">
                <a:solidFill>
                  <a:srgbClr val="5A5044"/>
                </a:solidFill>
                <a:latin typeface="宋体"/>
                <a:ea typeface="宋体"/>
                <a:cs typeface="宋体"/>
              </a:rPr>
              <a:t>七　验证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601968"/>
            <a:ext cx="2194560" cy="20116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r">
              <a:lnSpc>
                <a:spcPct val="115000"/>
              </a:lnSpc>
              <a:spcAft>
                <a:spcPts val="100"/>
              </a:spcAft>
            </a:pPr>
            <a:r>
              <a:rPr sz="1100" b="0">
                <a:solidFill>
                  <a:srgbClr val="5A5044"/>
                </a:solidFill>
                <a:latin typeface="微软雅黑"/>
                <a:ea typeface="微软雅黑"/>
                <a:cs typeface="微软雅黑"/>
              </a:rPr>
              <a:t>30  /  33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115568"/>
            <a:ext cx="11201400" cy="2331720"/>
          </a:xfrm>
          <a:prstGeom prst="rect">
            <a:avLst/>
          </a:prstGeom>
          <a:solidFill>
            <a:srgbClr val="2A241C"/>
          </a:solidFill>
          <a:ln w="11430">
            <a:solidFill>
              <a:srgbClr val="8A6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280160"/>
            <a:ext cx="10789920" cy="20116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00" b="0">
                <a:solidFill>
                  <a:srgbClr val="F0EADC"/>
                </a:solidFill>
                <a:latin typeface="Consolas"/>
                <a:ea typeface="微软雅黑"/>
                <a:cs typeface="Consolas"/>
              </a:rPr>
              <a:t>./isolate_umdk_gpu.sh build $HOME/umdk_gpu_isolated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00" b="0">
                <a:solidFill>
                  <a:srgbClr val="F0EADC"/>
                </a:solidFill>
                <a:latin typeface="Consolas"/>
                <a:ea typeface="微软雅黑"/>
                <a:cs typeface="Consolas"/>
              </a:rPr>
              <a:t>$HOME/umdk_gpu_isolated/run.sh \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00" b="0">
                <a:solidFill>
                  <a:srgbClr val="F0EADC"/>
                </a:solidFill>
                <a:latin typeface="Consolas"/>
                <a:ea typeface="微软雅黑"/>
                <a:cs typeface="Consolas"/>
              </a:rPr>
              <a:t>  .../urma_perftest write_lat_gpu --gpu-mode=peermem ...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300" b="0">
                <a:solidFill>
                  <a:srgbClr val="B8AE9A"/>
                </a:solidFill>
                <a:latin typeface="Consolas"/>
                <a:ea typeface="微软雅黑"/>
                <a:cs typeface="Consolas"/>
              </a:rPr>
              <a:t># UMDK_GDR_HOOK=0  可临时去掉钩子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657600"/>
            <a:ext cx="11155680" cy="2560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run.sh 只给这一次 exec 设置 LD_PRELOAD。打开脚本或 cat 不会加载 .so。</a:t>
            </a:r>
          </a:p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不要全局 export，不要写 /etc/ld.so.preload。sudo 会丢掉该变量；已是 root 则不要再套 sudo。</a:t>
            </a:r>
          </a:p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源码：userspace/gdr-geforce-hook/gdr_geforce_hook.c，文件头注释即加载模型。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D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73152" cy="256032"/>
          </a:xfrm>
          <a:prstGeom prst="rect">
            <a:avLst/>
          </a:prstGeom>
          <a:solidFill>
            <a:srgbClr val="7A2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"/>
            <a:ext cx="1078992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200" b="1">
                <a:solidFill>
                  <a:srgbClr val="7A241C"/>
                </a:solidFill>
                <a:latin typeface="宋体"/>
                <a:ea typeface="宋体"/>
                <a:cs typeface="宋体"/>
              </a:rPr>
              <a:t>七　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155680" cy="38404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2200" b="1">
                <a:solidFill>
                  <a:srgbClr val="2A241C"/>
                </a:solidFill>
                <a:latin typeface="宋体"/>
                <a:ea typeface="宋体"/>
                <a:cs typeface="宋体"/>
              </a:rPr>
              <a:t>日志缺哪一句，回到哪一层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32688"/>
            <a:ext cx="1920240" cy="16459"/>
          </a:xfrm>
          <a:prstGeom prst="rect">
            <a:avLst/>
          </a:prstGeom>
          <a:solidFill>
            <a:srgbClr val="8A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565392"/>
            <a:ext cx="11201400" cy="10972"/>
          </a:xfrm>
          <a:prstGeom prst="rect">
            <a:avLst/>
          </a:prstGeom>
          <a:solidFill>
            <a:srgbClr val="8A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601968"/>
            <a:ext cx="7680960" cy="20116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100" b="0">
                <a:solidFill>
                  <a:srgbClr val="5A5044"/>
                </a:solidFill>
                <a:latin typeface="宋体"/>
                <a:ea typeface="宋体"/>
                <a:cs typeface="宋体"/>
              </a:rPr>
              <a:t>七　验证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601968"/>
            <a:ext cx="2194560" cy="20116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r">
              <a:lnSpc>
                <a:spcPct val="115000"/>
              </a:lnSpc>
              <a:spcAft>
                <a:spcPts val="100"/>
              </a:spcAft>
            </a:pPr>
            <a:r>
              <a:rPr sz="1100" b="0">
                <a:solidFill>
                  <a:srgbClr val="5A5044"/>
                </a:solidFill>
                <a:latin typeface="微软雅黑"/>
                <a:ea typeface="微软雅黑"/>
                <a:cs typeface="微软雅黑"/>
              </a:rPr>
              <a:t>31  /  33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78992"/>
            <a:ext cx="11201400" cy="384048"/>
          </a:xfrm>
          <a:prstGeom prst="rect">
            <a:avLst/>
          </a:prstGeom>
          <a:solidFill>
            <a:srgbClr val="DFD6C6"/>
          </a:solidFill>
          <a:ln w="8890">
            <a:solidFill>
              <a:srgbClr val="8A6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078992"/>
            <a:ext cx="3474720" cy="38404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200" b="1">
                <a:solidFill>
                  <a:srgbClr val="7A241C"/>
                </a:solidFill>
                <a:latin typeface="宋体"/>
                <a:ea typeface="宋体"/>
                <a:cs typeface="宋体"/>
              </a:rPr>
              <a:t>现象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1078992"/>
            <a:ext cx="4114800" cy="38404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200" b="1">
                <a:solidFill>
                  <a:srgbClr val="7A241C"/>
                </a:solidFill>
                <a:latin typeface="宋体"/>
                <a:ea typeface="宋体"/>
                <a:cs typeface="宋体"/>
              </a:rPr>
              <a:t>含义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1078992"/>
            <a:ext cx="3200400" cy="38404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200" b="1">
                <a:solidFill>
                  <a:srgbClr val="7A241C"/>
                </a:solidFill>
                <a:latin typeface="宋体"/>
                <a:ea typeface="宋体"/>
                <a:cs typeface="宋体"/>
              </a:rPr>
              <a:t>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463040"/>
            <a:ext cx="11201400" cy="749808"/>
          </a:xfrm>
          <a:prstGeom prst="rect">
            <a:avLst/>
          </a:prstGeom>
          <a:solidFill>
            <a:srgbClr val="EAE3D4"/>
          </a:solidFill>
          <a:ln w="6350">
            <a:solidFill>
              <a:srgbClr val="8A6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463040"/>
            <a:ext cx="3474720" cy="74980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300" b="1">
                <a:solidFill>
                  <a:srgbClr val="2A241C"/>
                </a:solidFill>
                <a:latin typeface="Consolas"/>
                <a:ea typeface="微软雅黑"/>
                <a:cs typeface="Consolas"/>
              </a:rPr>
              <a:t>无 ready GPU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0520" y="1463040"/>
            <a:ext cx="4114800" cy="74980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ioctl 未套上，或尚未 cuInit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463040"/>
            <a:ext cx="3200400" cy="74980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00" b="0">
                <a:solidFill>
                  <a:srgbClr val="5A5044"/>
                </a:solidFill>
                <a:latin typeface="微软雅黑"/>
                <a:ea typeface="微软雅黑"/>
                <a:cs typeface="微软雅黑"/>
              </a:rPr>
              <a:t>符号拦截 / run.sh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212848"/>
            <a:ext cx="11201400" cy="749808"/>
          </a:xfrm>
          <a:prstGeom prst="rect">
            <a:avLst/>
          </a:prstGeom>
          <a:solidFill>
            <a:srgbClr val="F7F2E8"/>
          </a:solidFill>
          <a:ln w="6350">
            <a:solidFill>
              <a:srgbClr val="8A6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212848"/>
            <a:ext cx="3474720" cy="74980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300" b="1">
                <a:solidFill>
                  <a:srgbClr val="2A241C"/>
                </a:solidFill>
                <a:latin typeface="Consolas"/>
                <a:ea typeface="微软雅黑"/>
                <a:cs typeface="Consolas"/>
              </a:rPr>
              <a:t>cannot alloc 0x503c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60520" y="2212848"/>
            <a:ext cx="4114800" cy="74980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家谱未齐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212848"/>
            <a:ext cx="3200400" cy="74980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00" b="0">
                <a:solidFill>
                  <a:srgbClr val="5A5044"/>
                </a:solidFill>
                <a:latin typeface="微软雅黑"/>
                <a:ea typeface="微软雅黑"/>
                <a:cs typeface="微软雅黑"/>
              </a:rPr>
              <a:t>ioctl 记账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962656"/>
            <a:ext cx="11201400" cy="749808"/>
          </a:xfrm>
          <a:prstGeom prst="rect">
            <a:avLst/>
          </a:prstGeom>
          <a:solidFill>
            <a:srgbClr val="EAE3D4"/>
          </a:solidFill>
          <a:ln w="6350">
            <a:solidFill>
              <a:srgbClr val="8A6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2962656"/>
            <a:ext cx="3474720" cy="74980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300" b="1">
                <a:solidFill>
                  <a:srgbClr val="2A241C"/>
                </a:solidFill>
                <a:latin typeface="Consolas"/>
                <a:ea typeface="微软雅黑"/>
                <a:cs typeface="Consolas"/>
              </a:rPr>
              <a:t>no hMemory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60520" y="2962656"/>
            <a:ext cx="4114800" cy="74980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仍走普通 cuMemAlloc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962656"/>
            <a:ext cx="3200400" cy="74980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00" b="0">
                <a:solidFill>
                  <a:srgbClr val="5A5044"/>
                </a:solidFill>
                <a:latin typeface="微软雅黑"/>
                <a:ea typeface="微软雅黑"/>
                <a:cs typeface="微软雅黑"/>
              </a:rPr>
              <a:t>VMM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712463"/>
            <a:ext cx="11201400" cy="749808"/>
          </a:xfrm>
          <a:prstGeom prst="rect">
            <a:avLst/>
          </a:prstGeom>
          <a:solidFill>
            <a:srgbClr val="F7F2E8"/>
          </a:solidFill>
          <a:ln w="6350">
            <a:solidFill>
              <a:srgbClr val="8A6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712463"/>
            <a:ext cx="3474720" cy="74980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300" b="1">
                <a:solidFill>
                  <a:srgbClr val="2A241C"/>
                </a:solidFill>
                <a:latin typeface="Consolas"/>
                <a:ea typeface="微软雅黑"/>
                <a:cs typeface="Consolas"/>
              </a:rPr>
              <a:t>REGISTER_VIDMEM != 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60520" y="3712463"/>
            <a:ext cx="4114800" cy="74980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handle 错或未 64K 对齐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3712463"/>
            <a:ext cx="3200400" cy="74980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00" b="0">
                <a:solidFill>
                  <a:srgbClr val="5A5044"/>
                </a:solidFill>
                <a:latin typeface="微软雅黑"/>
                <a:ea typeface="微软雅黑"/>
                <a:cs typeface="微软雅黑"/>
              </a:rPr>
              <a:t>登记三笔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4462272"/>
            <a:ext cx="11201400" cy="749808"/>
          </a:xfrm>
          <a:prstGeom prst="rect">
            <a:avLst/>
          </a:prstGeom>
          <a:solidFill>
            <a:srgbClr val="EAE3D4"/>
          </a:solidFill>
          <a:ln w="6350">
            <a:solidFill>
              <a:srgbClr val="8A6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62272"/>
            <a:ext cx="3474720" cy="74980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300" b="1">
                <a:solidFill>
                  <a:srgbClr val="2A241C"/>
                </a:solidFill>
                <a:latin typeface="Consolas"/>
                <a:ea typeface="微软雅黑"/>
                <a:cs typeface="Consolas"/>
              </a:rPr>
              <a:t>登记成功，pin 仍 -22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0520" y="4462272"/>
            <a:ext cx="4114800" cy="74980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pin 的 VA 不在登记范围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4462272"/>
            <a:ext cx="3200400" cy="74980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00" b="0">
                <a:solidFill>
                  <a:srgbClr val="5A5044"/>
                </a:solidFill>
                <a:latin typeface="微软雅黑"/>
                <a:ea typeface="微软雅黑"/>
                <a:cs typeface="微软雅黑"/>
              </a:rPr>
              <a:t>对照日志 va/size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5212080"/>
            <a:ext cx="11201400" cy="749808"/>
          </a:xfrm>
          <a:prstGeom prst="rect">
            <a:avLst/>
          </a:prstGeom>
          <a:solidFill>
            <a:srgbClr val="F7F2E8"/>
          </a:solidFill>
          <a:ln w="6350">
            <a:solidFill>
              <a:srgbClr val="8A6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212080"/>
            <a:ext cx="3474720" cy="74980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300" b="1">
                <a:solidFill>
                  <a:srgbClr val="2A241C"/>
                </a:solidFill>
                <a:latin typeface="Consolas"/>
                <a:ea typeface="微软雅黑"/>
                <a:cs typeface="Consolas"/>
              </a:rPr>
              <a:t>死在 801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60520" y="5212080"/>
            <a:ext cx="4114800" cy="74980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SYNC_MEMOPS 被当成致命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5212080"/>
            <a:ext cx="3200400" cy="74980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00" b="0">
                <a:solidFill>
                  <a:srgbClr val="5A5044"/>
                </a:solidFill>
                <a:latin typeface="微软雅黑"/>
                <a:ea typeface="微软雅黑"/>
                <a:cs typeface="微软雅黑"/>
              </a:rPr>
              <a:t>两扇小门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D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73152" cy="256032"/>
          </a:xfrm>
          <a:prstGeom prst="rect">
            <a:avLst/>
          </a:prstGeom>
          <a:solidFill>
            <a:srgbClr val="7A2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"/>
            <a:ext cx="1078992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200" b="1">
                <a:solidFill>
                  <a:srgbClr val="7A241C"/>
                </a:solidFill>
                <a:latin typeface="宋体"/>
                <a:ea typeface="宋体"/>
                <a:cs typeface="宋体"/>
              </a:rPr>
              <a:t>八　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155680" cy="38404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2200" b="1">
                <a:solidFill>
                  <a:srgbClr val="2A241C"/>
                </a:solidFill>
                <a:latin typeface="宋体"/>
                <a:ea typeface="宋体"/>
                <a:cs typeface="宋体"/>
              </a:rPr>
              <a:t>本稿止于 pin 成功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32688"/>
            <a:ext cx="1920240" cy="16459"/>
          </a:xfrm>
          <a:prstGeom prst="rect">
            <a:avLst/>
          </a:prstGeom>
          <a:solidFill>
            <a:srgbClr val="8A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565392"/>
            <a:ext cx="11201400" cy="10972"/>
          </a:xfrm>
          <a:prstGeom prst="rect">
            <a:avLst/>
          </a:prstGeom>
          <a:solidFill>
            <a:srgbClr val="8A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601968"/>
            <a:ext cx="7680960" cy="20116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100" b="0">
                <a:solidFill>
                  <a:srgbClr val="5A5044"/>
                </a:solidFill>
                <a:latin typeface="宋体"/>
                <a:ea typeface="宋体"/>
                <a:cs typeface="宋体"/>
              </a:rPr>
              <a:t>八　边界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601968"/>
            <a:ext cx="2194560" cy="20116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r">
              <a:lnSpc>
                <a:spcPct val="115000"/>
              </a:lnSpc>
              <a:spcAft>
                <a:spcPts val="100"/>
              </a:spcAft>
            </a:pPr>
            <a:r>
              <a:rPr sz="1100" b="0">
                <a:solidFill>
                  <a:srgbClr val="5A5044"/>
                </a:solidFill>
                <a:latin typeface="微软雅黑"/>
                <a:ea typeface="微软雅黑"/>
                <a:cs typeface="微软雅黑"/>
              </a:rPr>
              <a:t>32  /  33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143000"/>
            <a:ext cx="5486400" cy="5029200"/>
          </a:xfrm>
          <a:prstGeom prst="rect">
            <a:avLst/>
          </a:prstGeom>
          <a:solidFill>
            <a:srgbClr val="EAE3D4"/>
          </a:solidFill>
          <a:ln w="11430">
            <a:solidFill>
              <a:srgbClr val="8A6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325880"/>
            <a:ext cx="5074920" cy="3657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600" b="1">
                <a:solidFill>
                  <a:srgbClr val="7A241C"/>
                </a:solidFill>
                <a:latin typeface="宋体"/>
                <a:ea typeface="宋体"/>
                <a:cs typeface="宋体"/>
              </a:rPr>
              <a:t>已说明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874519"/>
            <a:ext cx="5074920" cy="40233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28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P2P 与 GDR 不是一词。</a:t>
            </a:r>
          </a:p>
          <a:p>
            <a:pPr algn="l">
              <a:lnSpc>
                <a:spcPct val="128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二者共用 BAR1 与 p2pGetCaps。</a:t>
            </a:r>
          </a:p>
          <a:p>
            <a:pPr algn="l">
              <a:lnSpc>
                <a:spcPct val="128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flag 打开的是连通性申报。</a:t>
            </a:r>
          </a:p>
          <a:p>
            <a:pPr algn="l">
              <a:lnSpc>
                <a:spcPct val="128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GDR 在内核侧因此可直接适配。</a:t>
            </a:r>
          </a:p>
          <a:p>
            <a:pPr algn="l">
              <a:lnSpc>
                <a:spcPct val="128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GeForce libcuda 仍不写 0x503c。</a:t>
            </a:r>
          </a:p>
          <a:p>
            <a:pPr algn="l">
              <a:lnSpc>
                <a:spcPct val="128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用户态 .so 补登记后，get_pages 不再 0x57。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143000"/>
            <a:ext cx="5532120" cy="5029200"/>
          </a:xfrm>
          <a:prstGeom prst="rect">
            <a:avLst/>
          </a:prstGeom>
          <a:solidFill>
            <a:srgbClr val="DFD6C6"/>
          </a:solidFill>
          <a:ln w="11430">
            <a:solidFill>
              <a:srgbClr val="8A6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325880"/>
            <a:ext cx="5120640" cy="3657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600" b="1">
                <a:solidFill>
                  <a:srgbClr val="7A241C"/>
                </a:solidFill>
                <a:latin typeface="宋体"/>
                <a:ea typeface="宋体"/>
                <a:cs typeface="宋体"/>
              </a:rPr>
              <a:t>未说明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874519"/>
            <a:ext cx="5120640" cy="40233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28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UMMU、隔离 SVA、MATT、4K SG。</a:t>
            </a:r>
          </a:p>
          <a:p>
            <a:pPr algn="l">
              <a:lnSpc>
                <a:spcPct val="128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那是 pin 成功之后，把页交给本所网卡驱动的事。</a:t>
            </a:r>
          </a:p>
          <a:p>
            <a:pPr algn="l">
              <a:lnSpc>
                <a:spcPct val="128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lnSpc>
                <a:spcPct val="128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也不把 Harry 的 dma-buf 路径</a:t>
            </a:r>
          </a:p>
          <a:p>
            <a:pPr algn="l">
              <a:lnSpc>
                <a:spcPct val="128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讲成 peermem 的替代证明。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D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1201400" cy="16459"/>
          </a:xfrm>
          <a:prstGeom prst="rect">
            <a:avLst/>
          </a:prstGeom>
          <a:solidFill>
            <a:srgbClr val="8A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05840"/>
            <a:ext cx="11155680" cy="3657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00" b="1">
                <a:solidFill>
                  <a:srgbClr val="7A241C"/>
                </a:solidFill>
                <a:latin typeface="宋体"/>
                <a:ea typeface="宋体"/>
                <a:cs typeface="宋体"/>
              </a:rPr>
              <a:t>文献与代码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63040"/>
            <a:ext cx="11155680" cy="6400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2600" b="1">
                <a:solidFill>
                  <a:srgbClr val="2A241C"/>
                </a:solidFill>
                <a:latin typeface="宋体"/>
                <a:ea typeface="宋体"/>
                <a:cs typeface="宋体"/>
              </a:rPr>
              <a:t>三层，由下而上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286000"/>
            <a:ext cx="11155680" cy="31089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28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窗：BAR1。GPU P2P 与 GDR 的数据面。</a:t>
            </a:r>
          </a:p>
          <a:p>
            <a:pPr algn="l">
              <a:lnSpc>
                <a:spcPct val="128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申报：p2pGetCaps / PCIE_BAR1。只改 flag 即可选用现成实现。</a:t>
            </a:r>
          </a:p>
          <a:p>
            <a:pPr algn="l">
              <a:lnSpc>
                <a:spcPct val="128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登记：0x503c。Tesla 的 libcuda 写，GeForce 不写；本稿在用户态补。</a:t>
            </a:r>
          </a:p>
          <a:p>
            <a:pPr algn="l">
              <a:lnSpc>
                <a:spcPct val="128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lnSpc>
                <a:spcPct val="128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源码  userspace/gdr-geforce-hook/gdr_geforce_hook.c</a:t>
            </a:r>
          </a:p>
          <a:p>
            <a:pPr algn="l">
              <a:lnSpc>
                <a:spcPct val="128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内核注释  src/nvidia/src/kernel/platform/p2p/p2p_caps.c  （两类对象同一检查）</a:t>
            </a:r>
          </a:p>
          <a:p>
            <a:pPr algn="l">
              <a:lnSpc>
                <a:spcPct val="128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导出 API  kernel-open/nvidia/nv-p2p.h</a:t>
            </a:r>
          </a:p>
          <a:p>
            <a:pPr algn="l">
              <a:lnSpc>
                <a:spcPct val="128000"/>
              </a:lnSpc>
              <a:spcAft>
                <a:spcPts val="100"/>
              </a:spcAft>
            </a:pPr>
            <a:r>
              <a:rPr sz="1500" b="0">
                <a:solidFill>
                  <a:srgbClr val="2A241C"/>
                </a:solidFill>
                <a:latin typeface="微软雅黑"/>
                <a:ea typeface="微软雅黑"/>
                <a:cs typeface="微软雅黑"/>
              </a:rPr>
              <a:t>对照  harrychen.xyz/2026/05/20/enable-gpudirect-rdma-on-rtx-5090/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65392"/>
            <a:ext cx="11201400" cy="10972"/>
          </a:xfrm>
          <a:prstGeom prst="rect">
            <a:avLst/>
          </a:prstGeom>
          <a:solidFill>
            <a:srgbClr val="8A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601968"/>
            <a:ext cx="7680960" cy="20116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100" b="0">
                <a:solidFill>
                  <a:srgbClr val="5A5044"/>
                </a:solidFill>
                <a:latin typeface="宋体"/>
                <a:ea typeface="宋体"/>
                <a:cs typeface="宋体"/>
              </a:rPr>
              <a:t>文献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601968"/>
            <a:ext cx="2194560" cy="20116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r">
              <a:lnSpc>
                <a:spcPct val="115000"/>
              </a:lnSpc>
              <a:spcAft>
                <a:spcPts val="100"/>
              </a:spcAft>
            </a:pPr>
            <a:r>
              <a:rPr sz="1100" b="0">
                <a:solidFill>
                  <a:srgbClr val="5A5044"/>
                </a:solidFill>
                <a:latin typeface="微软雅黑"/>
                <a:ea typeface="微软雅黑"/>
                <a:cs typeface="微软雅黑"/>
              </a:rPr>
              <a:t>33  /  33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